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Aileron Bold" panose="020B0604020202020204" charset="0"/>
      <p:regular r:id="rId21"/>
    </p:embeddedFont>
    <p:embeddedFont>
      <p:font typeface="Montserrat" panose="00000500000000000000" pitchFamily="2" charset="0"/>
      <p:regular r:id="rId22"/>
    </p:embeddedFont>
    <p:embeddedFont>
      <p:font typeface="Montserrat Bold" panose="020B0604020202020204" charset="0"/>
      <p:regular r:id="rId23"/>
    </p:embeddedFont>
    <p:embeddedFont>
      <p:font typeface="TT Fors" panose="020B0604020202020204" charset="0"/>
      <p:regular r:id="rId24"/>
    </p:embeddedFont>
    <p:embeddedFont>
      <p:font typeface="TT Norms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50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028700" y="2838456"/>
            <a:ext cx="13544013" cy="4955156"/>
          </a:xfrm>
          <a:prstGeom prst="rect">
            <a:avLst/>
          </a:prstGeom>
        </p:spPr>
        <p:txBody>
          <a:bodyPr lIns="0" tIns="0" rIns="0" bIns="0" rtlCol="0" anchor="t">
            <a:spAutoFit/>
          </a:bodyPr>
          <a:lstStyle/>
          <a:p>
            <a:pPr algn="l">
              <a:lnSpc>
                <a:spcPts val="12648"/>
              </a:lnSpc>
            </a:pPr>
            <a:r>
              <a:rPr lang="en-US" sz="14212" b="1" spc="-625" dirty="0" err="1">
                <a:solidFill>
                  <a:srgbClr val="E4E2DD"/>
                </a:solidFill>
                <a:latin typeface="Aileron Bold"/>
                <a:ea typeface="Aileron Bold"/>
                <a:cs typeface="Aileron Bold"/>
                <a:sym typeface="Aileron Bold"/>
              </a:rPr>
              <a:t>Ozibook</a:t>
            </a:r>
            <a:r>
              <a:rPr lang="en-US" sz="14212" b="1" spc="-625" dirty="0">
                <a:solidFill>
                  <a:srgbClr val="E4E2DD"/>
                </a:solidFill>
                <a:latin typeface="Aileron Bold"/>
                <a:ea typeface="Aileron Bold"/>
                <a:cs typeface="Aileron Bold"/>
                <a:sym typeface="Aileron Bold"/>
              </a:rPr>
              <a:t> :  the Placement</a:t>
            </a:r>
          </a:p>
          <a:p>
            <a:pPr algn="l">
              <a:lnSpc>
                <a:spcPts val="12648"/>
              </a:lnSpc>
            </a:pPr>
            <a:r>
              <a:rPr lang="en-US" sz="14212" b="1" spc="-625" dirty="0">
                <a:solidFill>
                  <a:srgbClr val="E4E2DD"/>
                </a:solidFill>
                <a:latin typeface="Aileron Bold"/>
                <a:ea typeface="Aileron Bold"/>
                <a:cs typeface="Aileron Bold"/>
                <a:sym typeface="Aileron Bold"/>
              </a:rPr>
              <a:t>Solution</a:t>
            </a:r>
          </a:p>
        </p:txBody>
      </p:sp>
      <p:sp>
        <p:nvSpPr>
          <p:cNvPr id="3" name="TextBox 3"/>
          <p:cNvSpPr txBox="1"/>
          <p:nvPr/>
        </p:nvSpPr>
        <p:spPr>
          <a:xfrm>
            <a:off x="9830806" y="4687523"/>
            <a:ext cx="7428494" cy="998133"/>
          </a:xfrm>
          <a:prstGeom prst="rect">
            <a:avLst/>
          </a:prstGeom>
        </p:spPr>
        <p:txBody>
          <a:bodyPr lIns="0" tIns="0" rIns="0" bIns="0" rtlCol="0" anchor="t">
            <a:spAutoFit/>
          </a:bodyPr>
          <a:lstStyle/>
          <a:p>
            <a:pPr algn="just">
              <a:lnSpc>
                <a:spcPts val="2667"/>
              </a:lnSpc>
            </a:pPr>
            <a:r>
              <a:rPr lang="en-US" sz="2222" spc="-44">
                <a:solidFill>
                  <a:srgbClr val="E4E2DD"/>
                </a:solidFill>
                <a:latin typeface="Montserrat"/>
                <a:ea typeface="Montserrat"/>
                <a:cs typeface="Montserrat"/>
                <a:sym typeface="Montserrat"/>
              </a:rPr>
              <a:t>A dashboard for Training &amp; Placement Officers to track placement performance, monitor recruitment trends, and analyze student selection data efficiently.</a:t>
            </a:r>
          </a:p>
        </p:txBody>
      </p:sp>
      <p:sp>
        <p:nvSpPr>
          <p:cNvPr id="4" name="TextBox 4"/>
          <p:cNvSpPr txBox="1"/>
          <p:nvPr/>
        </p:nvSpPr>
        <p:spPr>
          <a:xfrm>
            <a:off x="1028700" y="8664843"/>
            <a:ext cx="2652419" cy="266700"/>
          </a:xfrm>
          <a:prstGeom prst="rect">
            <a:avLst/>
          </a:prstGeom>
        </p:spPr>
        <p:txBody>
          <a:bodyPr lIns="0" tIns="0" rIns="0" bIns="0" rtlCol="0" anchor="t">
            <a:spAutoFit/>
          </a:bodyPr>
          <a:lstStyle/>
          <a:p>
            <a:pPr algn="l">
              <a:lnSpc>
                <a:spcPts val="2160"/>
              </a:lnSpc>
            </a:pPr>
            <a:r>
              <a:rPr lang="en-US" sz="1800">
                <a:solidFill>
                  <a:srgbClr val="E4E2DD"/>
                </a:solidFill>
                <a:latin typeface="Montserrat"/>
                <a:ea typeface="Montserrat"/>
                <a:cs typeface="Montserrat"/>
                <a:sym typeface="Montserrat"/>
              </a:rPr>
              <a:t>Name of Project:</a:t>
            </a:r>
          </a:p>
        </p:txBody>
      </p:sp>
      <p:sp>
        <p:nvSpPr>
          <p:cNvPr id="5" name="TextBox 5"/>
          <p:cNvSpPr txBox="1"/>
          <p:nvPr/>
        </p:nvSpPr>
        <p:spPr>
          <a:xfrm>
            <a:off x="4167784" y="8664843"/>
            <a:ext cx="2652419" cy="266700"/>
          </a:xfrm>
          <a:prstGeom prst="rect">
            <a:avLst/>
          </a:prstGeom>
        </p:spPr>
        <p:txBody>
          <a:bodyPr lIns="0" tIns="0" rIns="0" bIns="0" rtlCol="0" anchor="t">
            <a:spAutoFit/>
          </a:bodyPr>
          <a:lstStyle/>
          <a:p>
            <a:pPr algn="l">
              <a:lnSpc>
                <a:spcPts val="2160"/>
              </a:lnSpc>
            </a:pPr>
            <a:r>
              <a:rPr lang="en-US" sz="1800">
                <a:solidFill>
                  <a:srgbClr val="E4E2DD"/>
                </a:solidFill>
                <a:latin typeface="Montserrat"/>
                <a:ea typeface="Montserrat"/>
                <a:cs typeface="Montserrat"/>
                <a:sym typeface="Montserrat"/>
              </a:rPr>
              <a:t>Presented By:</a:t>
            </a:r>
          </a:p>
        </p:txBody>
      </p:sp>
      <p:sp>
        <p:nvSpPr>
          <p:cNvPr id="6" name="TextBox 6"/>
          <p:cNvSpPr txBox="1"/>
          <p:nvPr/>
        </p:nvSpPr>
        <p:spPr>
          <a:xfrm>
            <a:off x="1028700" y="8944775"/>
            <a:ext cx="2652419" cy="314325"/>
          </a:xfrm>
          <a:prstGeom prst="rect">
            <a:avLst/>
          </a:prstGeom>
        </p:spPr>
        <p:txBody>
          <a:bodyPr lIns="0" tIns="0" rIns="0" bIns="0" rtlCol="0" anchor="t">
            <a:spAutoFit/>
          </a:bodyPr>
          <a:lstStyle/>
          <a:p>
            <a:pPr algn="l">
              <a:lnSpc>
                <a:spcPts val="2520"/>
              </a:lnSpc>
            </a:pPr>
            <a:r>
              <a:rPr lang="en-US" sz="2100" b="1">
                <a:solidFill>
                  <a:srgbClr val="E4E2DD"/>
                </a:solidFill>
                <a:latin typeface="Montserrat Bold"/>
                <a:ea typeface="Montserrat Bold"/>
                <a:cs typeface="Montserrat Bold"/>
                <a:sym typeface="Montserrat Bold"/>
              </a:rPr>
              <a:t>Kode Craft</a:t>
            </a:r>
          </a:p>
        </p:txBody>
      </p:sp>
      <p:sp>
        <p:nvSpPr>
          <p:cNvPr id="7" name="TextBox 7"/>
          <p:cNvSpPr txBox="1"/>
          <p:nvPr/>
        </p:nvSpPr>
        <p:spPr>
          <a:xfrm>
            <a:off x="4167784" y="8944775"/>
            <a:ext cx="2652419" cy="628650"/>
          </a:xfrm>
          <a:prstGeom prst="rect">
            <a:avLst/>
          </a:prstGeom>
        </p:spPr>
        <p:txBody>
          <a:bodyPr lIns="0" tIns="0" rIns="0" bIns="0" rtlCol="0" anchor="t">
            <a:spAutoFit/>
          </a:bodyPr>
          <a:lstStyle/>
          <a:p>
            <a:pPr algn="l">
              <a:lnSpc>
                <a:spcPts val="2520"/>
              </a:lnSpc>
            </a:pPr>
            <a:r>
              <a:rPr lang="en-US" sz="2100" b="1" spc="-42">
                <a:solidFill>
                  <a:srgbClr val="E4E2DD"/>
                </a:solidFill>
                <a:latin typeface="Montserrat Bold"/>
                <a:ea typeface="Montserrat Bold"/>
                <a:cs typeface="Montserrat Bold"/>
                <a:sym typeface="Montserrat Bold"/>
              </a:rPr>
              <a:t>Parth Goel &amp;</a:t>
            </a:r>
          </a:p>
          <a:p>
            <a:pPr algn="l">
              <a:lnSpc>
                <a:spcPts val="2520"/>
              </a:lnSpc>
            </a:pPr>
            <a:r>
              <a:rPr lang="en-US" sz="2100" b="1" spc="-42">
                <a:solidFill>
                  <a:srgbClr val="E4E2DD"/>
                </a:solidFill>
                <a:latin typeface="Montserrat Bold"/>
                <a:ea typeface="Montserrat Bold"/>
                <a:cs typeface="Montserrat Bold"/>
                <a:sym typeface="Montserrat Bold"/>
              </a:rPr>
              <a:t>Naman Sharma</a:t>
            </a:r>
          </a:p>
        </p:txBody>
      </p:sp>
      <p:sp>
        <p:nvSpPr>
          <p:cNvPr id="8" name="TextBox 8"/>
          <p:cNvSpPr txBox="1"/>
          <p:nvPr/>
        </p:nvSpPr>
        <p:spPr>
          <a:xfrm>
            <a:off x="7306869" y="8664843"/>
            <a:ext cx="2652419" cy="266700"/>
          </a:xfrm>
          <a:prstGeom prst="rect">
            <a:avLst/>
          </a:prstGeom>
        </p:spPr>
        <p:txBody>
          <a:bodyPr lIns="0" tIns="0" rIns="0" bIns="0" rtlCol="0" anchor="t">
            <a:spAutoFit/>
          </a:bodyPr>
          <a:lstStyle/>
          <a:p>
            <a:pPr algn="l">
              <a:lnSpc>
                <a:spcPts val="2160"/>
              </a:lnSpc>
            </a:pPr>
            <a:r>
              <a:rPr lang="en-US" sz="1800">
                <a:solidFill>
                  <a:srgbClr val="E4E2DD"/>
                </a:solidFill>
                <a:latin typeface="Montserrat"/>
                <a:ea typeface="Montserrat"/>
                <a:cs typeface="Montserrat"/>
                <a:sym typeface="Montserrat"/>
              </a:rPr>
              <a:t>Presented To:</a:t>
            </a:r>
          </a:p>
        </p:txBody>
      </p:sp>
      <p:sp>
        <p:nvSpPr>
          <p:cNvPr id="9" name="TextBox 9"/>
          <p:cNvSpPr txBox="1"/>
          <p:nvPr/>
        </p:nvSpPr>
        <p:spPr>
          <a:xfrm>
            <a:off x="7306869" y="8944775"/>
            <a:ext cx="2652419" cy="314325"/>
          </a:xfrm>
          <a:prstGeom prst="rect">
            <a:avLst/>
          </a:prstGeom>
        </p:spPr>
        <p:txBody>
          <a:bodyPr lIns="0" tIns="0" rIns="0" bIns="0" rtlCol="0" anchor="t">
            <a:spAutoFit/>
          </a:bodyPr>
          <a:lstStyle/>
          <a:p>
            <a:pPr algn="l">
              <a:lnSpc>
                <a:spcPts val="2520"/>
              </a:lnSpc>
            </a:pPr>
            <a:r>
              <a:rPr lang="en-US" sz="2100" b="1" spc="-42">
                <a:solidFill>
                  <a:srgbClr val="E4E2DD"/>
                </a:solidFill>
                <a:latin typeface="Montserrat Bold"/>
                <a:ea typeface="Montserrat Bold"/>
                <a:cs typeface="Montserrat Bold"/>
                <a:sym typeface="Montserrat Bold"/>
              </a:rPr>
              <a:t>Ozibook Solutions</a:t>
            </a:r>
          </a:p>
        </p:txBody>
      </p:sp>
      <p:sp>
        <p:nvSpPr>
          <p:cNvPr id="10" name="Freeform 10"/>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2"/>
            <a:stretch>
              <a:fillRect l="-16732" t="-87648" r="-14033" b="-113366"/>
            </a:stretch>
          </a:blipFill>
        </p:spPr>
      </p:sp>
      <p:sp>
        <p:nvSpPr>
          <p:cNvPr id="11" name="TextBox 11"/>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028700" y="2725277"/>
            <a:ext cx="13544013" cy="3353422"/>
          </a:xfrm>
          <a:prstGeom prst="rect">
            <a:avLst/>
          </a:prstGeom>
        </p:spPr>
        <p:txBody>
          <a:bodyPr lIns="0" tIns="0" rIns="0" bIns="0" rtlCol="0" anchor="t">
            <a:spAutoFit/>
          </a:bodyPr>
          <a:lstStyle/>
          <a:p>
            <a:pPr algn="l">
              <a:lnSpc>
                <a:spcPts val="12648"/>
              </a:lnSpc>
            </a:pPr>
            <a:r>
              <a:rPr lang="en-US" sz="14212" b="1" spc="-625">
                <a:solidFill>
                  <a:srgbClr val="E4E2DD"/>
                </a:solidFill>
                <a:latin typeface="Aileron Bold"/>
                <a:ea typeface="Aileron Bold"/>
                <a:cs typeface="Aileron Bold"/>
                <a:sym typeface="Aileron Bold"/>
              </a:rPr>
              <a:t>Student </a:t>
            </a:r>
          </a:p>
          <a:p>
            <a:pPr algn="l">
              <a:lnSpc>
                <a:spcPts val="12648"/>
              </a:lnSpc>
            </a:pPr>
            <a:r>
              <a:rPr lang="en-US" sz="14212" b="1" spc="-625">
                <a:solidFill>
                  <a:srgbClr val="E4E2DD"/>
                </a:solidFill>
                <a:latin typeface="Aileron Bold"/>
                <a:ea typeface="Aileron Bold"/>
                <a:cs typeface="Aileron Bold"/>
                <a:sym typeface="Aileron Bold"/>
              </a:rPr>
              <a:t>Dashboard</a:t>
            </a:r>
          </a:p>
        </p:txBody>
      </p:sp>
      <p:sp>
        <p:nvSpPr>
          <p:cNvPr id="3" name="TextBox 3"/>
          <p:cNvSpPr txBox="1"/>
          <p:nvPr/>
        </p:nvSpPr>
        <p:spPr>
          <a:xfrm>
            <a:off x="1028700" y="8664843"/>
            <a:ext cx="2652419" cy="266700"/>
          </a:xfrm>
          <a:prstGeom prst="rect">
            <a:avLst/>
          </a:prstGeom>
        </p:spPr>
        <p:txBody>
          <a:bodyPr lIns="0" tIns="0" rIns="0" bIns="0" rtlCol="0" anchor="t">
            <a:spAutoFit/>
          </a:bodyPr>
          <a:lstStyle/>
          <a:p>
            <a:pPr algn="l">
              <a:lnSpc>
                <a:spcPts val="2160"/>
              </a:lnSpc>
            </a:pPr>
            <a:r>
              <a:rPr lang="en-US" sz="1800">
                <a:solidFill>
                  <a:srgbClr val="E4E2DD"/>
                </a:solidFill>
                <a:latin typeface="Montserrat"/>
                <a:ea typeface="Montserrat"/>
                <a:cs typeface="Montserrat"/>
                <a:sym typeface="Montserrat"/>
              </a:rPr>
              <a:t>Name of Project:</a:t>
            </a:r>
          </a:p>
        </p:txBody>
      </p:sp>
      <p:sp>
        <p:nvSpPr>
          <p:cNvPr id="4" name="TextBox 4"/>
          <p:cNvSpPr txBox="1"/>
          <p:nvPr/>
        </p:nvSpPr>
        <p:spPr>
          <a:xfrm>
            <a:off x="4167784" y="8664843"/>
            <a:ext cx="2652419" cy="266700"/>
          </a:xfrm>
          <a:prstGeom prst="rect">
            <a:avLst/>
          </a:prstGeom>
        </p:spPr>
        <p:txBody>
          <a:bodyPr lIns="0" tIns="0" rIns="0" bIns="0" rtlCol="0" anchor="t">
            <a:spAutoFit/>
          </a:bodyPr>
          <a:lstStyle/>
          <a:p>
            <a:pPr algn="l">
              <a:lnSpc>
                <a:spcPts val="2160"/>
              </a:lnSpc>
            </a:pPr>
            <a:r>
              <a:rPr lang="en-US" sz="1800">
                <a:solidFill>
                  <a:srgbClr val="E4E2DD"/>
                </a:solidFill>
                <a:latin typeface="Montserrat"/>
                <a:ea typeface="Montserrat"/>
                <a:cs typeface="Montserrat"/>
                <a:sym typeface="Montserrat"/>
              </a:rPr>
              <a:t>Presented By:</a:t>
            </a:r>
          </a:p>
        </p:txBody>
      </p:sp>
      <p:sp>
        <p:nvSpPr>
          <p:cNvPr id="5" name="TextBox 5"/>
          <p:cNvSpPr txBox="1"/>
          <p:nvPr/>
        </p:nvSpPr>
        <p:spPr>
          <a:xfrm>
            <a:off x="1028700" y="8944775"/>
            <a:ext cx="2652419" cy="314325"/>
          </a:xfrm>
          <a:prstGeom prst="rect">
            <a:avLst/>
          </a:prstGeom>
        </p:spPr>
        <p:txBody>
          <a:bodyPr lIns="0" tIns="0" rIns="0" bIns="0" rtlCol="0" anchor="t">
            <a:spAutoFit/>
          </a:bodyPr>
          <a:lstStyle/>
          <a:p>
            <a:pPr algn="l">
              <a:lnSpc>
                <a:spcPts val="2520"/>
              </a:lnSpc>
            </a:pPr>
            <a:r>
              <a:rPr lang="en-US" sz="2100" b="1">
                <a:solidFill>
                  <a:srgbClr val="E4E2DD"/>
                </a:solidFill>
                <a:latin typeface="Montserrat Bold"/>
                <a:ea typeface="Montserrat Bold"/>
                <a:cs typeface="Montserrat Bold"/>
                <a:sym typeface="Montserrat Bold"/>
              </a:rPr>
              <a:t>Kode Craft</a:t>
            </a:r>
          </a:p>
        </p:txBody>
      </p:sp>
      <p:sp>
        <p:nvSpPr>
          <p:cNvPr id="6" name="TextBox 6"/>
          <p:cNvSpPr txBox="1"/>
          <p:nvPr/>
        </p:nvSpPr>
        <p:spPr>
          <a:xfrm>
            <a:off x="4167784" y="8944775"/>
            <a:ext cx="2652419" cy="628650"/>
          </a:xfrm>
          <a:prstGeom prst="rect">
            <a:avLst/>
          </a:prstGeom>
        </p:spPr>
        <p:txBody>
          <a:bodyPr lIns="0" tIns="0" rIns="0" bIns="0" rtlCol="0" anchor="t">
            <a:spAutoFit/>
          </a:bodyPr>
          <a:lstStyle/>
          <a:p>
            <a:pPr algn="l">
              <a:lnSpc>
                <a:spcPts val="2520"/>
              </a:lnSpc>
            </a:pPr>
            <a:r>
              <a:rPr lang="en-US" sz="2100" b="1" spc="-42">
                <a:solidFill>
                  <a:srgbClr val="E4E2DD"/>
                </a:solidFill>
                <a:latin typeface="Montserrat Bold"/>
                <a:ea typeface="Montserrat Bold"/>
                <a:cs typeface="Montserrat Bold"/>
                <a:sym typeface="Montserrat Bold"/>
              </a:rPr>
              <a:t>Parth Goel &amp;</a:t>
            </a:r>
          </a:p>
          <a:p>
            <a:pPr algn="l">
              <a:lnSpc>
                <a:spcPts val="2520"/>
              </a:lnSpc>
            </a:pPr>
            <a:r>
              <a:rPr lang="en-US" sz="2100" b="1" spc="-42">
                <a:solidFill>
                  <a:srgbClr val="E4E2DD"/>
                </a:solidFill>
                <a:latin typeface="Montserrat Bold"/>
                <a:ea typeface="Montserrat Bold"/>
                <a:cs typeface="Montserrat Bold"/>
                <a:sym typeface="Montserrat Bold"/>
              </a:rPr>
              <a:t>Naman Sharma</a:t>
            </a:r>
          </a:p>
        </p:txBody>
      </p:sp>
      <p:sp>
        <p:nvSpPr>
          <p:cNvPr id="7" name="TextBox 7"/>
          <p:cNvSpPr txBox="1"/>
          <p:nvPr/>
        </p:nvSpPr>
        <p:spPr>
          <a:xfrm>
            <a:off x="7306869" y="8664843"/>
            <a:ext cx="2652419" cy="266700"/>
          </a:xfrm>
          <a:prstGeom prst="rect">
            <a:avLst/>
          </a:prstGeom>
        </p:spPr>
        <p:txBody>
          <a:bodyPr lIns="0" tIns="0" rIns="0" bIns="0" rtlCol="0" anchor="t">
            <a:spAutoFit/>
          </a:bodyPr>
          <a:lstStyle/>
          <a:p>
            <a:pPr algn="l">
              <a:lnSpc>
                <a:spcPts val="2160"/>
              </a:lnSpc>
            </a:pPr>
            <a:r>
              <a:rPr lang="en-US" sz="1800">
                <a:solidFill>
                  <a:srgbClr val="E4E2DD"/>
                </a:solidFill>
                <a:latin typeface="Montserrat"/>
                <a:ea typeface="Montserrat"/>
                <a:cs typeface="Montserrat"/>
                <a:sym typeface="Montserrat"/>
              </a:rPr>
              <a:t>Presented To:</a:t>
            </a:r>
          </a:p>
        </p:txBody>
      </p:sp>
      <p:sp>
        <p:nvSpPr>
          <p:cNvPr id="8" name="TextBox 8"/>
          <p:cNvSpPr txBox="1"/>
          <p:nvPr/>
        </p:nvSpPr>
        <p:spPr>
          <a:xfrm>
            <a:off x="7306869" y="8944775"/>
            <a:ext cx="2652419" cy="314325"/>
          </a:xfrm>
          <a:prstGeom prst="rect">
            <a:avLst/>
          </a:prstGeom>
        </p:spPr>
        <p:txBody>
          <a:bodyPr lIns="0" tIns="0" rIns="0" bIns="0" rtlCol="0" anchor="t">
            <a:spAutoFit/>
          </a:bodyPr>
          <a:lstStyle/>
          <a:p>
            <a:pPr algn="l">
              <a:lnSpc>
                <a:spcPts val="2520"/>
              </a:lnSpc>
            </a:pPr>
            <a:r>
              <a:rPr lang="en-US" sz="2100" b="1" spc="-42">
                <a:solidFill>
                  <a:srgbClr val="E4E2DD"/>
                </a:solidFill>
                <a:latin typeface="Montserrat Bold"/>
                <a:ea typeface="Montserrat Bold"/>
                <a:cs typeface="Montserrat Bold"/>
                <a:sym typeface="Montserrat Bold"/>
              </a:rPr>
              <a:t>Ozibook Solutions</a:t>
            </a:r>
          </a:p>
        </p:txBody>
      </p:sp>
      <p:sp>
        <p:nvSpPr>
          <p:cNvPr id="9" name="TextBox 9"/>
          <p:cNvSpPr txBox="1"/>
          <p:nvPr/>
        </p:nvSpPr>
        <p:spPr>
          <a:xfrm>
            <a:off x="10241315" y="6078699"/>
            <a:ext cx="7017985" cy="1885950"/>
          </a:xfrm>
          <a:prstGeom prst="rect">
            <a:avLst/>
          </a:prstGeom>
        </p:spPr>
        <p:txBody>
          <a:bodyPr lIns="0" tIns="0" rIns="0" bIns="0" rtlCol="0" anchor="t">
            <a:spAutoFit/>
          </a:bodyPr>
          <a:lstStyle/>
          <a:p>
            <a:pPr algn="just">
              <a:lnSpc>
                <a:spcPts val="2520"/>
              </a:lnSpc>
            </a:pPr>
            <a:r>
              <a:rPr lang="en-US" sz="2100" spc="-42">
                <a:solidFill>
                  <a:srgbClr val="E4E2DD"/>
                </a:solidFill>
                <a:latin typeface="Montserrat"/>
                <a:ea typeface="Montserrat"/>
                <a:cs typeface="Montserrat"/>
                <a:sym typeface="Montserrat"/>
              </a:rPr>
              <a:t>A Custom Student Dashboard where students can learn new skills, attend online classes, participate in hackathons, explore job and internship opportunities, and track their performance through rankings and leaderboards — all in one platform designed to support learning, growth, and career success.</a:t>
            </a:r>
          </a:p>
        </p:txBody>
      </p:sp>
      <p:sp>
        <p:nvSpPr>
          <p:cNvPr id="10" name="Freeform 10"/>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2"/>
            <a:stretch>
              <a:fillRect l="-16732" t="-87648" r="-14033" b="-113366"/>
            </a:stretch>
          </a:blipFill>
        </p:spPr>
      </p:sp>
      <p:sp>
        <p:nvSpPr>
          <p:cNvPr id="11" name="TextBox 11"/>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839109" y="1317676"/>
            <a:ext cx="11960220" cy="8381235"/>
          </a:xfrm>
          <a:prstGeom prst="rect">
            <a:avLst/>
          </a:prstGeom>
        </p:spPr>
      </p:pic>
      <p:sp>
        <p:nvSpPr>
          <p:cNvPr id="3" name="TextBox 3"/>
          <p:cNvSpPr txBox="1"/>
          <p:nvPr/>
        </p:nvSpPr>
        <p:spPr>
          <a:xfrm>
            <a:off x="9827121" y="2776269"/>
            <a:ext cx="6278169" cy="2098228"/>
          </a:xfrm>
          <a:prstGeom prst="rect">
            <a:avLst/>
          </a:prstGeom>
        </p:spPr>
        <p:txBody>
          <a:bodyPr lIns="0" tIns="0" rIns="0" bIns="0" rtlCol="0" anchor="t">
            <a:spAutoFit/>
          </a:bodyPr>
          <a:lstStyle/>
          <a:p>
            <a:pPr algn="l">
              <a:lnSpc>
                <a:spcPts val="7917"/>
              </a:lnSpc>
            </a:pPr>
            <a:r>
              <a:rPr lang="en-US" sz="8895" b="1" spc="-391">
                <a:solidFill>
                  <a:srgbClr val="E4E2DD"/>
                </a:solidFill>
                <a:latin typeface="Aileron Bold"/>
                <a:ea typeface="Aileron Bold"/>
                <a:cs typeface="Aileron Bold"/>
                <a:sym typeface="Aileron Bold"/>
              </a:rPr>
              <a:t>Glimpses of Our Art </a:t>
            </a:r>
          </a:p>
        </p:txBody>
      </p:sp>
      <p:sp>
        <p:nvSpPr>
          <p:cNvPr id="4" name="TextBox 4"/>
          <p:cNvSpPr txBox="1"/>
          <p:nvPr/>
        </p:nvSpPr>
        <p:spPr>
          <a:xfrm>
            <a:off x="9959288" y="5987584"/>
            <a:ext cx="6755947" cy="942975"/>
          </a:xfrm>
          <a:prstGeom prst="rect">
            <a:avLst/>
          </a:prstGeom>
        </p:spPr>
        <p:txBody>
          <a:bodyPr lIns="0" tIns="0" rIns="0" bIns="0" rtlCol="0" anchor="t">
            <a:spAutoFit/>
          </a:bodyPr>
          <a:lstStyle/>
          <a:p>
            <a:pPr algn="just">
              <a:lnSpc>
                <a:spcPts val="2520"/>
              </a:lnSpc>
            </a:pPr>
            <a:r>
              <a:rPr lang="en-US" sz="2100" spc="-42">
                <a:solidFill>
                  <a:srgbClr val="E4E2DD"/>
                </a:solidFill>
                <a:latin typeface="Montserrat"/>
                <a:ea typeface="Montserrat"/>
                <a:cs typeface="Montserrat"/>
                <a:sym typeface="Montserrat"/>
              </a:rPr>
              <a:t>A modern and user-friendly platform designed to make training and placements easier, faster, and more effective for students and colleges.</a:t>
            </a:r>
          </a:p>
        </p:txBody>
      </p:sp>
      <p:sp>
        <p:nvSpPr>
          <p:cNvPr id="5" name="Freeform 5"/>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3"/>
            <a:stretch>
              <a:fillRect l="-16732" t="-87648" r="-14033" b="-113366"/>
            </a:stretch>
          </a:blipFill>
        </p:spPr>
      </p:sp>
      <p:sp>
        <p:nvSpPr>
          <p:cNvPr id="6" name="TextBox 6"/>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
        <p:nvSpPr>
          <p:cNvPr id="7" name="TextBox 7"/>
          <p:cNvSpPr txBox="1"/>
          <p:nvPr/>
        </p:nvSpPr>
        <p:spPr>
          <a:xfrm>
            <a:off x="9959288" y="5363939"/>
            <a:ext cx="5153833" cy="383159"/>
          </a:xfrm>
          <a:prstGeom prst="rect">
            <a:avLst/>
          </a:prstGeom>
        </p:spPr>
        <p:txBody>
          <a:bodyPr lIns="0" tIns="0" rIns="0" bIns="0" rtlCol="0" anchor="t">
            <a:spAutoFit/>
          </a:bodyPr>
          <a:lstStyle/>
          <a:p>
            <a:pPr algn="l">
              <a:lnSpc>
                <a:spcPts val="2848"/>
              </a:lnSpc>
            </a:pPr>
            <a:r>
              <a:rPr lang="en-US" sz="3200" b="1" spc="-140">
                <a:solidFill>
                  <a:srgbClr val="E4E2DD"/>
                </a:solidFill>
                <a:latin typeface="Aileron Bold"/>
                <a:ea typeface="Aileron Bold"/>
                <a:cs typeface="Aileron Bold"/>
                <a:sym typeface="Aileron Bold"/>
              </a:rPr>
              <a:t>1. Introduction to Login page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2"/>
            <a:stretch>
              <a:fillRect l="-16732" t="-87648" r="-14033" b="-113366"/>
            </a:stretch>
          </a:blipFill>
        </p:spPr>
      </p:sp>
      <p:sp>
        <p:nvSpPr>
          <p:cNvPr id="3" name="TextBox 3"/>
          <p:cNvSpPr txBox="1"/>
          <p:nvPr/>
        </p:nvSpPr>
        <p:spPr>
          <a:xfrm>
            <a:off x="8993375" y="2864704"/>
            <a:ext cx="7625357" cy="2054832"/>
          </a:xfrm>
          <a:prstGeom prst="rect">
            <a:avLst/>
          </a:prstGeom>
        </p:spPr>
        <p:txBody>
          <a:bodyPr lIns="0" tIns="0" rIns="0" bIns="0" rtlCol="0" anchor="t">
            <a:spAutoFit/>
          </a:bodyPr>
          <a:lstStyle/>
          <a:p>
            <a:pPr algn="l">
              <a:lnSpc>
                <a:spcPts val="7707"/>
              </a:lnSpc>
            </a:pPr>
            <a:r>
              <a:rPr lang="en-US" sz="8660" b="1" spc="-381">
                <a:solidFill>
                  <a:srgbClr val="E4E2DD"/>
                </a:solidFill>
                <a:latin typeface="Aileron Bold"/>
                <a:ea typeface="Aileron Bold"/>
                <a:cs typeface="Aileron Bold"/>
                <a:sym typeface="Aileron Bold"/>
              </a:rPr>
              <a:t>Glimpses of Our Dashboard</a:t>
            </a:r>
          </a:p>
        </p:txBody>
      </p:sp>
      <p:sp>
        <p:nvSpPr>
          <p:cNvPr id="4" name="TextBox 4"/>
          <p:cNvSpPr txBox="1"/>
          <p:nvPr/>
        </p:nvSpPr>
        <p:spPr>
          <a:xfrm>
            <a:off x="9428080" y="6372966"/>
            <a:ext cx="6755947" cy="1257300"/>
          </a:xfrm>
          <a:prstGeom prst="rect">
            <a:avLst/>
          </a:prstGeom>
        </p:spPr>
        <p:txBody>
          <a:bodyPr lIns="0" tIns="0" rIns="0" bIns="0" rtlCol="0" anchor="t">
            <a:spAutoFit/>
          </a:bodyPr>
          <a:lstStyle/>
          <a:p>
            <a:pPr algn="just">
              <a:lnSpc>
                <a:spcPts val="2520"/>
              </a:lnSpc>
            </a:pPr>
            <a:r>
              <a:rPr lang="en-US" sz="2100" spc="-42">
                <a:solidFill>
                  <a:srgbClr val="E4E2DD"/>
                </a:solidFill>
                <a:latin typeface="Montserrat"/>
                <a:ea typeface="Montserrat"/>
                <a:cs typeface="Montserrat"/>
                <a:sym typeface="Montserrat"/>
              </a:rPr>
              <a:t>A powerful and user-friendly dashboard designed to help students track their learning, coding progress, contests, hackathons, and placement preparation — all in one place.</a:t>
            </a:r>
          </a:p>
        </p:txBody>
      </p:sp>
      <p:sp>
        <p:nvSpPr>
          <p:cNvPr id="5" name="TextBox 5"/>
          <p:cNvSpPr txBox="1"/>
          <p:nvPr/>
        </p:nvSpPr>
        <p:spPr>
          <a:xfrm>
            <a:off x="9428080" y="5452935"/>
            <a:ext cx="5153833" cy="735584"/>
          </a:xfrm>
          <a:prstGeom prst="rect">
            <a:avLst/>
          </a:prstGeom>
        </p:spPr>
        <p:txBody>
          <a:bodyPr lIns="0" tIns="0" rIns="0" bIns="0" rtlCol="0" anchor="t">
            <a:spAutoFit/>
          </a:bodyPr>
          <a:lstStyle/>
          <a:p>
            <a:pPr algn="l">
              <a:lnSpc>
                <a:spcPts val="2848"/>
              </a:lnSpc>
            </a:pPr>
            <a:r>
              <a:rPr lang="en-US" sz="3200" b="1" spc="-140">
                <a:solidFill>
                  <a:srgbClr val="E4E2DD"/>
                </a:solidFill>
                <a:latin typeface="Aileron Bold"/>
                <a:ea typeface="Aileron Bold"/>
                <a:cs typeface="Aileron Bold"/>
                <a:sym typeface="Aileron Bold"/>
              </a:rPr>
              <a:t>1. Smart Student Dashboard Experience</a:t>
            </a:r>
          </a:p>
        </p:txBody>
      </p:sp>
      <p:pic>
        <p:nvPicPr>
          <p:cNvPr id="6" name="Picture 6"/>
          <p:cNvPicPr>
            <a:picLocks noChangeAspect="1"/>
          </p:cNvPicPr>
          <p:nvPr/>
        </p:nvPicPr>
        <p:blipFill>
          <a:blip r:embed="rId3"/>
          <a:stretch>
            <a:fillRect/>
          </a:stretch>
        </p:blipFill>
        <p:spPr>
          <a:xfrm>
            <a:off x="-1203230" y="1423349"/>
            <a:ext cx="14438758" cy="9038181"/>
          </a:xfrm>
          <a:prstGeom prst="rect">
            <a:avLst/>
          </a:prstGeom>
        </p:spPr>
      </p:pic>
      <p:sp>
        <p:nvSpPr>
          <p:cNvPr id="7" name="TextBox 7"/>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6787453" y="952882"/>
            <a:ext cx="11960220" cy="8381235"/>
          </a:xfrm>
          <a:prstGeom prst="rect">
            <a:avLst/>
          </a:prstGeom>
        </p:spPr>
      </p:pic>
      <p:sp>
        <p:nvSpPr>
          <p:cNvPr id="3" name="Freeform 3"/>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3"/>
            <a:stretch>
              <a:fillRect l="-16732" t="-87648" r="-14033" b="-113366"/>
            </a:stretch>
          </a:blipFill>
        </p:spPr>
      </p:sp>
      <p:sp>
        <p:nvSpPr>
          <p:cNvPr id="4" name="TextBox 4"/>
          <p:cNvSpPr txBox="1"/>
          <p:nvPr/>
        </p:nvSpPr>
        <p:spPr>
          <a:xfrm>
            <a:off x="1028700" y="2042686"/>
            <a:ext cx="6278169" cy="3100814"/>
          </a:xfrm>
          <a:prstGeom prst="rect">
            <a:avLst/>
          </a:prstGeom>
        </p:spPr>
        <p:txBody>
          <a:bodyPr lIns="0" tIns="0" rIns="0" bIns="0" rtlCol="0" anchor="t">
            <a:spAutoFit/>
          </a:bodyPr>
          <a:lstStyle/>
          <a:p>
            <a:pPr algn="l">
              <a:lnSpc>
                <a:spcPts val="7917"/>
              </a:lnSpc>
            </a:pPr>
            <a:r>
              <a:rPr lang="en-US" sz="8895" b="1" spc="-391">
                <a:solidFill>
                  <a:srgbClr val="E4E2DD"/>
                </a:solidFill>
                <a:latin typeface="Aileron Bold"/>
                <a:ea typeface="Aileron Bold"/>
                <a:cs typeface="Aileron Bold"/>
                <a:sym typeface="Aileron Bold"/>
              </a:rPr>
              <a:t>Glimpses of Our Dashboard</a:t>
            </a:r>
          </a:p>
        </p:txBody>
      </p:sp>
      <p:sp>
        <p:nvSpPr>
          <p:cNvPr id="5" name="TextBox 5"/>
          <p:cNvSpPr txBox="1"/>
          <p:nvPr/>
        </p:nvSpPr>
        <p:spPr>
          <a:xfrm>
            <a:off x="1210261" y="6090995"/>
            <a:ext cx="5915046" cy="2200275"/>
          </a:xfrm>
          <a:prstGeom prst="rect">
            <a:avLst/>
          </a:prstGeom>
        </p:spPr>
        <p:txBody>
          <a:bodyPr lIns="0" tIns="0" rIns="0" bIns="0" rtlCol="0" anchor="t">
            <a:spAutoFit/>
          </a:bodyPr>
          <a:lstStyle/>
          <a:p>
            <a:pPr marL="453390" lvl="1" indent="-226695" algn="just">
              <a:lnSpc>
                <a:spcPts val="2520"/>
              </a:lnSpc>
              <a:buFont typeface="Arial"/>
              <a:buChar char="•"/>
            </a:pPr>
            <a:r>
              <a:rPr lang="en-US" sz="2100" spc="-42">
                <a:solidFill>
                  <a:srgbClr val="E4E2DD"/>
                </a:solidFill>
                <a:latin typeface="Montserrat"/>
                <a:ea typeface="Montserrat"/>
                <a:cs typeface="Montserrat"/>
                <a:sym typeface="Montserrat"/>
              </a:rPr>
              <a:t>Real-Time Learning Progress Tracking</a:t>
            </a:r>
          </a:p>
          <a:p>
            <a:pPr marL="453390" lvl="1" indent="-226695" algn="just">
              <a:lnSpc>
                <a:spcPts val="2520"/>
              </a:lnSpc>
              <a:buFont typeface="Arial"/>
              <a:buChar char="•"/>
            </a:pPr>
            <a:r>
              <a:rPr lang="en-US" sz="2100" spc="-42">
                <a:solidFill>
                  <a:srgbClr val="E4E2DD"/>
                </a:solidFill>
                <a:latin typeface="Montserrat"/>
                <a:ea typeface="Montserrat"/>
                <a:cs typeface="Montserrat"/>
                <a:sym typeface="Montserrat"/>
              </a:rPr>
              <a:t>Coding Profile Integration</a:t>
            </a:r>
          </a:p>
          <a:p>
            <a:pPr marL="453390" lvl="1" indent="-226695" algn="just">
              <a:lnSpc>
                <a:spcPts val="2520"/>
              </a:lnSpc>
              <a:buFont typeface="Arial"/>
              <a:buChar char="•"/>
            </a:pPr>
            <a:r>
              <a:rPr lang="en-US" sz="2100" spc="-42">
                <a:solidFill>
                  <a:srgbClr val="E4E2DD"/>
                </a:solidFill>
                <a:latin typeface="Montserrat"/>
                <a:ea typeface="Montserrat"/>
                <a:cs typeface="Montserrat"/>
                <a:sym typeface="Montserrat"/>
              </a:rPr>
              <a:t>Contest &amp; Hackathon Participation</a:t>
            </a:r>
          </a:p>
          <a:p>
            <a:pPr marL="453390" lvl="1" indent="-226695" algn="just">
              <a:lnSpc>
                <a:spcPts val="2520"/>
              </a:lnSpc>
              <a:buFont typeface="Arial"/>
              <a:buChar char="•"/>
            </a:pPr>
            <a:r>
              <a:rPr lang="en-US" sz="2100" spc="-42">
                <a:solidFill>
                  <a:srgbClr val="E4E2DD"/>
                </a:solidFill>
                <a:latin typeface="Montserrat"/>
                <a:ea typeface="Montserrat"/>
                <a:cs typeface="Montserrat"/>
                <a:sym typeface="Montserrat"/>
              </a:rPr>
              <a:t>Performance Analytics Dashboard</a:t>
            </a:r>
          </a:p>
          <a:p>
            <a:pPr marL="453390" lvl="1" indent="-226695" algn="just">
              <a:lnSpc>
                <a:spcPts val="2520"/>
              </a:lnSpc>
              <a:buFont typeface="Arial"/>
              <a:buChar char="•"/>
            </a:pPr>
            <a:r>
              <a:rPr lang="en-US" sz="2100" spc="-42">
                <a:solidFill>
                  <a:srgbClr val="E4E2DD"/>
                </a:solidFill>
                <a:latin typeface="Montserrat"/>
                <a:ea typeface="Montserrat"/>
                <a:cs typeface="Montserrat"/>
                <a:sym typeface="Montserrat"/>
              </a:rPr>
              <a:t>Career &amp; Placement-Focused Design</a:t>
            </a:r>
          </a:p>
          <a:p>
            <a:pPr marL="453390" lvl="1" indent="-226695" algn="just">
              <a:lnSpc>
                <a:spcPts val="2520"/>
              </a:lnSpc>
              <a:buFont typeface="Arial"/>
              <a:buChar char="•"/>
            </a:pPr>
            <a:r>
              <a:rPr lang="en-US" sz="2100" spc="-42">
                <a:solidFill>
                  <a:srgbClr val="E4E2DD"/>
                </a:solidFill>
                <a:latin typeface="Montserrat"/>
                <a:ea typeface="Montserrat"/>
                <a:cs typeface="Montserrat"/>
                <a:sym typeface="Montserrat"/>
              </a:rPr>
              <a:t>Smooth and Modern User Experience</a:t>
            </a:r>
          </a:p>
          <a:p>
            <a:pPr algn="just">
              <a:lnSpc>
                <a:spcPts val="2520"/>
              </a:lnSpc>
            </a:pPr>
            <a:endParaRPr lang="en-US" sz="2100" spc="-42">
              <a:solidFill>
                <a:srgbClr val="E4E2DD"/>
              </a:solidFill>
              <a:latin typeface="Montserrat"/>
              <a:ea typeface="Montserrat"/>
              <a:cs typeface="Montserrat"/>
              <a:sym typeface="Montserrat"/>
            </a:endParaRPr>
          </a:p>
        </p:txBody>
      </p:sp>
      <p:sp>
        <p:nvSpPr>
          <p:cNvPr id="6" name="TextBox 6"/>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
        <p:nvSpPr>
          <p:cNvPr id="7" name="TextBox 7"/>
          <p:cNvSpPr txBox="1"/>
          <p:nvPr/>
        </p:nvSpPr>
        <p:spPr>
          <a:xfrm>
            <a:off x="1210261" y="5467350"/>
            <a:ext cx="5915046" cy="735584"/>
          </a:xfrm>
          <a:prstGeom prst="rect">
            <a:avLst/>
          </a:prstGeom>
        </p:spPr>
        <p:txBody>
          <a:bodyPr lIns="0" tIns="0" rIns="0" bIns="0" rtlCol="0" anchor="t">
            <a:spAutoFit/>
          </a:bodyPr>
          <a:lstStyle/>
          <a:p>
            <a:pPr algn="l">
              <a:lnSpc>
                <a:spcPts val="2848"/>
              </a:lnSpc>
            </a:pPr>
            <a:r>
              <a:rPr lang="en-US" sz="3200" b="1" spc="-140">
                <a:solidFill>
                  <a:srgbClr val="E4E2DD"/>
                </a:solidFill>
                <a:latin typeface="Aileron Bold"/>
                <a:ea typeface="Aileron Bold"/>
                <a:cs typeface="Aileron Bold"/>
                <a:sym typeface="Aileron Bold"/>
              </a:rPr>
              <a:t>2. Key Features of Dashboard</a:t>
            </a:r>
          </a:p>
          <a:p>
            <a:pPr algn="l">
              <a:lnSpc>
                <a:spcPts val="2848"/>
              </a:lnSpc>
            </a:pPr>
            <a:endParaRPr lang="en-US" sz="3200" b="1" spc="-140">
              <a:solidFill>
                <a:srgbClr val="E4E2DD"/>
              </a:solidFill>
              <a:latin typeface="Aileron Bold"/>
              <a:ea typeface="Aileron Bold"/>
              <a:cs typeface="Aileron Bold"/>
              <a:sym typeface="Aileron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609023" y="1289716"/>
            <a:ext cx="12452153" cy="8725962"/>
          </a:xfrm>
          <a:prstGeom prst="rect">
            <a:avLst/>
          </a:prstGeom>
        </p:spPr>
      </p:pic>
      <p:sp>
        <p:nvSpPr>
          <p:cNvPr id="3" name="Freeform 3"/>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3"/>
            <a:stretch>
              <a:fillRect l="-16732" t="-87648" r="-14033" b="-113366"/>
            </a:stretch>
          </a:blipFill>
        </p:spPr>
      </p:sp>
      <p:sp>
        <p:nvSpPr>
          <p:cNvPr id="4" name="TextBox 4"/>
          <p:cNvSpPr txBox="1"/>
          <p:nvPr/>
        </p:nvSpPr>
        <p:spPr>
          <a:xfrm>
            <a:off x="10805450" y="2565520"/>
            <a:ext cx="6945538" cy="1871507"/>
          </a:xfrm>
          <a:prstGeom prst="rect">
            <a:avLst/>
          </a:prstGeom>
        </p:spPr>
        <p:txBody>
          <a:bodyPr lIns="0" tIns="0" rIns="0" bIns="0" rtlCol="0" anchor="t">
            <a:spAutoFit/>
          </a:bodyPr>
          <a:lstStyle/>
          <a:p>
            <a:pPr algn="l">
              <a:lnSpc>
                <a:spcPts val="7091"/>
              </a:lnSpc>
            </a:pPr>
            <a:r>
              <a:rPr lang="en-US" sz="7967" b="1" spc="-350">
                <a:solidFill>
                  <a:srgbClr val="E4E2DD"/>
                </a:solidFill>
                <a:latin typeface="Aileron Bold"/>
                <a:ea typeface="Aileron Bold"/>
                <a:cs typeface="Aileron Bold"/>
                <a:sym typeface="Aileron Bold"/>
              </a:rPr>
              <a:t>Glimpses of Our Dashboard</a:t>
            </a:r>
          </a:p>
        </p:txBody>
      </p:sp>
      <p:sp>
        <p:nvSpPr>
          <p:cNvPr id="5" name="TextBox 5"/>
          <p:cNvSpPr txBox="1"/>
          <p:nvPr/>
        </p:nvSpPr>
        <p:spPr>
          <a:xfrm>
            <a:off x="10805450" y="5305054"/>
            <a:ext cx="6624928" cy="4133796"/>
          </a:xfrm>
          <a:prstGeom prst="rect">
            <a:avLst/>
          </a:prstGeom>
        </p:spPr>
        <p:txBody>
          <a:bodyPr lIns="0" tIns="0" rIns="0" bIns="0" rtlCol="0" anchor="t">
            <a:spAutoFit/>
          </a:bodyPr>
          <a:lstStyle/>
          <a:p>
            <a:pPr algn="l">
              <a:lnSpc>
                <a:spcPts val="2367"/>
              </a:lnSpc>
            </a:pPr>
            <a:r>
              <a:rPr lang="en-US" sz="1972" b="1" spc="-39">
                <a:solidFill>
                  <a:srgbClr val="E4E2DD"/>
                </a:solidFill>
                <a:latin typeface="Montserrat Bold"/>
                <a:ea typeface="Montserrat Bold"/>
                <a:cs typeface="Montserrat Bold"/>
                <a:sym typeface="Montserrat Bold"/>
              </a:rPr>
              <a:t>Smarter Learning with AI Assistance</a:t>
            </a:r>
          </a:p>
          <a:p>
            <a:pPr algn="l">
              <a:lnSpc>
                <a:spcPts val="2367"/>
              </a:lnSpc>
            </a:pPr>
            <a:endParaRPr lang="en-US" sz="1972" b="1" spc="-39">
              <a:solidFill>
                <a:srgbClr val="E4E2DD"/>
              </a:solidFill>
              <a:latin typeface="Montserrat Bold"/>
              <a:ea typeface="Montserrat Bold"/>
              <a:cs typeface="Montserrat Bold"/>
              <a:sym typeface="Montserrat Bold"/>
            </a:endParaRPr>
          </a:p>
          <a:p>
            <a:pPr algn="l">
              <a:lnSpc>
                <a:spcPts val="2367"/>
              </a:lnSpc>
            </a:pPr>
            <a:r>
              <a:rPr lang="en-US" sz="1972" spc="-39">
                <a:solidFill>
                  <a:srgbClr val="E4E2DD"/>
                </a:solidFill>
                <a:latin typeface="Montserrat"/>
                <a:ea typeface="Montserrat"/>
                <a:cs typeface="Montserrat"/>
                <a:sym typeface="Montserrat"/>
              </a:rPr>
              <a:t>An AI-powered coding practice platform designed to help students learn faster, solve smarter, and prepare effectively for placements and technical interviews.</a:t>
            </a:r>
          </a:p>
          <a:p>
            <a:pPr algn="l">
              <a:lnSpc>
                <a:spcPts val="2367"/>
              </a:lnSpc>
            </a:pPr>
            <a:endParaRPr lang="en-US" sz="1972" spc="-39">
              <a:solidFill>
                <a:srgbClr val="E4E2DD"/>
              </a:solidFill>
              <a:latin typeface="Montserrat"/>
              <a:ea typeface="Montserrat"/>
              <a:cs typeface="Montserrat"/>
              <a:sym typeface="Montserrat"/>
            </a:endParaRPr>
          </a:p>
          <a:p>
            <a:pPr algn="l">
              <a:lnSpc>
                <a:spcPts val="2367"/>
              </a:lnSpc>
            </a:pPr>
            <a:r>
              <a:rPr lang="en-US" sz="1972" spc="-39">
                <a:solidFill>
                  <a:srgbClr val="E4E2DD"/>
                </a:solidFill>
                <a:latin typeface="Montserrat"/>
                <a:ea typeface="Montserrat"/>
                <a:cs typeface="Montserrat"/>
                <a:sym typeface="Montserrat"/>
              </a:rPr>
              <a:t>Key Highlights</a:t>
            </a:r>
          </a:p>
          <a:p>
            <a:pPr marL="425906" lvl="1" indent="-212953" algn="l">
              <a:lnSpc>
                <a:spcPts val="2367"/>
              </a:lnSpc>
              <a:buFont typeface="Arial"/>
              <a:buChar char="•"/>
            </a:pPr>
            <a:r>
              <a:rPr lang="en-US" sz="1972" spc="-39">
                <a:solidFill>
                  <a:srgbClr val="E4E2DD"/>
                </a:solidFill>
                <a:latin typeface="Montserrat"/>
                <a:ea typeface="Montserrat"/>
                <a:cs typeface="Montserrat"/>
                <a:sym typeface="Montserrat"/>
              </a:rPr>
              <a:t>AI-Enabled Coding Assistance</a:t>
            </a:r>
          </a:p>
          <a:p>
            <a:pPr marL="425906" lvl="1" indent="-212953" algn="l">
              <a:lnSpc>
                <a:spcPts val="2367"/>
              </a:lnSpc>
              <a:buFont typeface="Arial"/>
              <a:buChar char="•"/>
            </a:pPr>
            <a:r>
              <a:rPr lang="en-US" sz="1972" spc="-39">
                <a:solidFill>
                  <a:srgbClr val="E4E2DD"/>
                </a:solidFill>
                <a:latin typeface="Montserrat"/>
                <a:ea typeface="Montserrat"/>
                <a:cs typeface="Montserrat"/>
                <a:sym typeface="Montserrat"/>
              </a:rPr>
              <a:t>Smart Problem Recommendations</a:t>
            </a:r>
          </a:p>
          <a:p>
            <a:pPr marL="425906" lvl="1" indent="-212953" algn="l">
              <a:lnSpc>
                <a:spcPts val="2367"/>
              </a:lnSpc>
              <a:buFont typeface="Arial"/>
              <a:buChar char="•"/>
            </a:pPr>
            <a:r>
              <a:rPr lang="en-US" sz="1972" spc="-39">
                <a:solidFill>
                  <a:srgbClr val="E4E2DD"/>
                </a:solidFill>
                <a:latin typeface="Montserrat"/>
                <a:ea typeface="Montserrat"/>
                <a:cs typeface="Montserrat"/>
                <a:sym typeface="Montserrat"/>
              </a:rPr>
              <a:t>Curated DSA Practice Questions</a:t>
            </a:r>
          </a:p>
          <a:p>
            <a:pPr marL="425906" lvl="1" indent="-212953" algn="l">
              <a:lnSpc>
                <a:spcPts val="2367"/>
              </a:lnSpc>
              <a:buFont typeface="Arial"/>
              <a:buChar char="•"/>
            </a:pPr>
            <a:r>
              <a:rPr lang="en-US" sz="1972" spc="-39">
                <a:solidFill>
                  <a:srgbClr val="E4E2DD"/>
                </a:solidFill>
                <a:latin typeface="Montserrat"/>
                <a:ea typeface="Montserrat"/>
                <a:cs typeface="Montserrat"/>
                <a:sym typeface="Montserrat"/>
              </a:rPr>
              <a:t>Real Interview Preparation</a:t>
            </a:r>
          </a:p>
          <a:p>
            <a:pPr marL="425906" lvl="1" indent="-212953" algn="l">
              <a:lnSpc>
                <a:spcPts val="2367"/>
              </a:lnSpc>
              <a:buFont typeface="Arial"/>
              <a:buChar char="•"/>
            </a:pPr>
            <a:r>
              <a:rPr lang="en-US" sz="1972" spc="-39">
                <a:solidFill>
                  <a:srgbClr val="E4E2DD"/>
                </a:solidFill>
                <a:latin typeface="Montserrat"/>
                <a:ea typeface="Montserrat"/>
                <a:cs typeface="Montserrat"/>
                <a:sym typeface="Montserrat"/>
              </a:rPr>
              <a:t>Interactive and User-Friendly Experience</a:t>
            </a:r>
          </a:p>
          <a:p>
            <a:pPr algn="l">
              <a:lnSpc>
                <a:spcPts val="2367"/>
              </a:lnSpc>
            </a:pPr>
            <a:endParaRPr lang="en-US" sz="1972" spc="-39">
              <a:solidFill>
                <a:srgbClr val="E4E2DD"/>
              </a:solidFill>
              <a:latin typeface="Montserrat"/>
              <a:ea typeface="Montserrat"/>
              <a:cs typeface="Montserrat"/>
              <a:sym typeface="Montserrat"/>
            </a:endParaRPr>
          </a:p>
          <a:p>
            <a:pPr algn="l">
              <a:lnSpc>
                <a:spcPts val="2367"/>
              </a:lnSpc>
            </a:pPr>
            <a:endParaRPr lang="en-US" sz="1972" spc="-39">
              <a:solidFill>
                <a:srgbClr val="E4E2DD"/>
              </a:solidFill>
              <a:latin typeface="Montserrat"/>
              <a:ea typeface="Montserrat"/>
              <a:cs typeface="Montserrat"/>
              <a:sym typeface="Montserrat"/>
            </a:endParaRPr>
          </a:p>
        </p:txBody>
      </p:sp>
      <p:sp>
        <p:nvSpPr>
          <p:cNvPr id="6" name="TextBox 6"/>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
        <p:nvSpPr>
          <p:cNvPr id="7" name="TextBox 7"/>
          <p:cNvSpPr txBox="1"/>
          <p:nvPr/>
        </p:nvSpPr>
        <p:spPr>
          <a:xfrm>
            <a:off x="10805450" y="4694492"/>
            <a:ext cx="7053894" cy="449093"/>
          </a:xfrm>
          <a:prstGeom prst="rect">
            <a:avLst/>
          </a:prstGeom>
        </p:spPr>
        <p:txBody>
          <a:bodyPr lIns="0" tIns="0" rIns="0" bIns="0" rtlCol="0" anchor="t">
            <a:spAutoFit/>
          </a:bodyPr>
          <a:lstStyle/>
          <a:p>
            <a:pPr algn="l">
              <a:lnSpc>
                <a:spcPts val="3297"/>
              </a:lnSpc>
            </a:pPr>
            <a:r>
              <a:rPr lang="en-US" sz="3704" b="1" spc="-163">
                <a:solidFill>
                  <a:srgbClr val="E4E2DD"/>
                </a:solidFill>
                <a:latin typeface="Aileron Bold"/>
                <a:ea typeface="Aileron Bold"/>
                <a:cs typeface="Aileron Bold"/>
                <a:sym typeface="Aileron Bold"/>
              </a:rPr>
              <a:t>3. AI-Enabled Practice Arena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804188" y="1565152"/>
            <a:ext cx="11074962" cy="7760882"/>
          </a:xfrm>
          <a:prstGeom prst="rect">
            <a:avLst/>
          </a:prstGeom>
        </p:spPr>
      </p:pic>
      <p:sp>
        <p:nvSpPr>
          <p:cNvPr id="3" name="Freeform 3"/>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3"/>
            <a:stretch>
              <a:fillRect l="-16732" t="-87648" r="-14033" b="-113366"/>
            </a:stretch>
          </a:blipFill>
        </p:spPr>
      </p:sp>
      <p:sp>
        <p:nvSpPr>
          <p:cNvPr id="4" name="TextBox 4"/>
          <p:cNvSpPr txBox="1"/>
          <p:nvPr/>
        </p:nvSpPr>
        <p:spPr>
          <a:xfrm>
            <a:off x="613121" y="2671216"/>
            <a:ext cx="6427936" cy="1742866"/>
          </a:xfrm>
          <a:prstGeom prst="rect">
            <a:avLst/>
          </a:prstGeom>
        </p:spPr>
        <p:txBody>
          <a:bodyPr lIns="0" tIns="0" rIns="0" bIns="0" rtlCol="0" anchor="t">
            <a:spAutoFit/>
          </a:bodyPr>
          <a:lstStyle/>
          <a:p>
            <a:pPr algn="l">
              <a:lnSpc>
                <a:spcPts val="6562"/>
              </a:lnSpc>
            </a:pPr>
            <a:r>
              <a:rPr lang="en-US" sz="7373" b="1" spc="-324">
                <a:solidFill>
                  <a:srgbClr val="E4E2DD"/>
                </a:solidFill>
                <a:latin typeface="Aileron Bold"/>
                <a:ea typeface="Aileron Bold"/>
                <a:cs typeface="Aileron Bold"/>
                <a:sym typeface="Aileron Bold"/>
              </a:rPr>
              <a:t>Glimpses of Our Dashboard</a:t>
            </a:r>
          </a:p>
        </p:txBody>
      </p:sp>
      <p:sp>
        <p:nvSpPr>
          <p:cNvPr id="5" name="TextBox 5"/>
          <p:cNvSpPr txBox="1"/>
          <p:nvPr/>
        </p:nvSpPr>
        <p:spPr>
          <a:xfrm>
            <a:off x="613121" y="5539156"/>
            <a:ext cx="6131219" cy="3279243"/>
          </a:xfrm>
          <a:prstGeom prst="rect">
            <a:avLst/>
          </a:prstGeom>
        </p:spPr>
        <p:txBody>
          <a:bodyPr lIns="0" tIns="0" rIns="0" bIns="0" rtlCol="0" anchor="t">
            <a:spAutoFit/>
          </a:bodyPr>
          <a:lstStyle/>
          <a:p>
            <a:pPr algn="l">
              <a:lnSpc>
                <a:spcPts val="2190"/>
              </a:lnSpc>
            </a:pPr>
            <a:r>
              <a:rPr lang="en-US" sz="1825" spc="-36">
                <a:solidFill>
                  <a:srgbClr val="E4E2DD"/>
                </a:solidFill>
                <a:latin typeface="Montserrat"/>
                <a:ea typeface="Montserrat"/>
                <a:cs typeface="Montserrat"/>
                <a:sym typeface="Montserrat"/>
              </a:rPr>
              <a:t>Industry-focused courses designed according to student needs and placement requirements, helping students build real-world skills and become career-ready.</a:t>
            </a:r>
          </a:p>
          <a:p>
            <a:pPr algn="l">
              <a:lnSpc>
                <a:spcPts val="2190"/>
              </a:lnSpc>
            </a:pPr>
            <a:endParaRPr lang="en-US" sz="1825" spc="-36">
              <a:solidFill>
                <a:srgbClr val="E4E2DD"/>
              </a:solidFill>
              <a:latin typeface="Montserrat"/>
              <a:ea typeface="Montserrat"/>
              <a:cs typeface="Montserrat"/>
              <a:sym typeface="Montserrat"/>
            </a:endParaRPr>
          </a:p>
          <a:p>
            <a:pPr algn="l">
              <a:lnSpc>
                <a:spcPts val="2190"/>
              </a:lnSpc>
            </a:pPr>
            <a:r>
              <a:rPr lang="en-US" sz="1825" b="1" spc="-36">
                <a:solidFill>
                  <a:srgbClr val="E4E2DD"/>
                </a:solidFill>
                <a:latin typeface="Montserrat Bold"/>
                <a:ea typeface="Montserrat Bold"/>
                <a:cs typeface="Montserrat Bold"/>
                <a:sym typeface="Montserrat Bold"/>
              </a:rPr>
              <a:t>Key Features</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Placement-Oriented Courses</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Web Development, DSA &amp; Data Science</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AI-Enabled Learning Experience</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Student Demand-Based Training</a:t>
            </a:r>
          </a:p>
          <a:p>
            <a:pPr algn="l">
              <a:lnSpc>
                <a:spcPts val="2190"/>
              </a:lnSpc>
            </a:pPr>
            <a:endParaRPr lang="en-US" sz="1825" spc="-36">
              <a:solidFill>
                <a:srgbClr val="E4E2DD"/>
              </a:solidFill>
              <a:latin typeface="Montserrat"/>
              <a:ea typeface="Montserrat"/>
              <a:cs typeface="Montserrat"/>
              <a:sym typeface="Montserrat"/>
            </a:endParaRPr>
          </a:p>
          <a:p>
            <a:pPr algn="l">
              <a:lnSpc>
                <a:spcPts val="2190"/>
              </a:lnSpc>
            </a:pPr>
            <a:endParaRPr lang="en-US" sz="1825" spc="-36">
              <a:solidFill>
                <a:srgbClr val="E4E2DD"/>
              </a:solidFill>
              <a:latin typeface="Montserrat"/>
              <a:ea typeface="Montserrat"/>
              <a:cs typeface="Montserrat"/>
              <a:sym typeface="Montserrat"/>
            </a:endParaRPr>
          </a:p>
        </p:txBody>
      </p:sp>
      <p:sp>
        <p:nvSpPr>
          <p:cNvPr id="6" name="TextBox 6"/>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
        <p:nvSpPr>
          <p:cNvPr id="7" name="TextBox 7"/>
          <p:cNvSpPr txBox="1"/>
          <p:nvPr/>
        </p:nvSpPr>
        <p:spPr>
          <a:xfrm>
            <a:off x="613121" y="4650644"/>
            <a:ext cx="7316979" cy="794949"/>
          </a:xfrm>
          <a:prstGeom prst="rect">
            <a:avLst/>
          </a:prstGeom>
        </p:spPr>
        <p:txBody>
          <a:bodyPr lIns="0" tIns="0" rIns="0" bIns="0" rtlCol="0" anchor="t">
            <a:spAutoFit/>
          </a:bodyPr>
          <a:lstStyle/>
          <a:p>
            <a:pPr algn="l">
              <a:lnSpc>
                <a:spcPts val="3051"/>
              </a:lnSpc>
            </a:pPr>
            <a:r>
              <a:rPr lang="en-US" sz="3428" b="1" spc="-150">
                <a:solidFill>
                  <a:srgbClr val="E4E2DD"/>
                </a:solidFill>
                <a:latin typeface="Aileron Bold"/>
                <a:ea typeface="Aileron Bold"/>
                <a:cs typeface="Aileron Bold"/>
                <a:sym typeface="Aileron Bold"/>
              </a:rPr>
              <a:t>4. Available Courses &amp; </a:t>
            </a:r>
          </a:p>
          <a:p>
            <a:pPr algn="l">
              <a:lnSpc>
                <a:spcPts val="3051"/>
              </a:lnSpc>
            </a:pPr>
            <a:r>
              <a:rPr lang="en-US" sz="3428" b="1" spc="-150">
                <a:solidFill>
                  <a:srgbClr val="E4E2DD"/>
                </a:solidFill>
                <a:latin typeface="Aileron Bold"/>
                <a:ea typeface="Aileron Bold"/>
                <a:cs typeface="Aileron Bold"/>
                <a:sym typeface="Aileron Bold"/>
              </a:rPr>
              <a:t>      Career Support</a:t>
            </a:r>
          </a:p>
        </p:txBody>
      </p:sp>
      <p:grpSp>
        <p:nvGrpSpPr>
          <p:cNvPr id="8" name="Group 8"/>
          <p:cNvGrpSpPr/>
          <p:nvPr/>
        </p:nvGrpSpPr>
        <p:grpSpPr>
          <a:xfrm>
            <a:off x="15704810" y="2791926"/>
            <a:ext cx="47625" cy="4417134"/>
            <a:chOff x="0" y="0"/>
            <a:chExt cx="12543" cy="1163360"/>
          </a:xfrm>
        </p:grpSpPr>
        <p:sp>
          <p:nvSpPr>
            <p:cNvPr id="9" name="Freeform 9"/>
            <p:cNvSpPr/>
            <p:nvPr/>
          </p:nvSpPr>
          <p:spPr>
            <a:xfrm>
              <a:off x="0" y="0"/>
              <a:ext cx="12543" cy="1163360"/>
            </a:xfrm>
            <a:custGeom>
              <a:avLst/>
              <a:gdLst/>
              <a:ahLst/>
              <a:cxnLst/>
              <a:rect l="l" t="t" r="r" b="b"/>
              <a:pathLst>
                <a:path w="12543" h="1163360">
                  <a:moveTo>
                    <a:pt x="0" y="0"/>
                  </a:moveTo>
                  <a:lnTo>
                    <a:pt x="12543" y="0"/>
                  </a:lnTo>
                  <a:lnTo>
                    <a:pt x="12543" y="1163360"/>
                  </a:lnTo>
                  <a:lnTo>
                    <a:pt x="0" y="1163360"/>
                  </a:lnTo>
                  <a:close/>
                </a:path>
              </a:pathLst>
            </a:custGeom>
            <a:solidFill>
              <a:srgbClr val="858C8B"/>
            </a:solidFill>
          </p:spPr>
        </p:sp>
        <p:sp>
          <p:nvSpPr>
            <p:cNvPr id="10" name="TextBox 10"/>
            <p:cNvSpPr txBox="1"/>
            <p:nvPr/>
          </p:nvSpPr>
          <p:spPr>
            <a:xfrm>
              <a:off x="0" y="-38100"/>
              <a:ext cx="12543" cy="1201460"/>
            </a:xfrm>
            <a:prstGeom prst="rect">
              <a:avLst/>
            </a:prstGeom>
          </p:spPr>
          <p:txBody>
            <a:bodyPr lIns="50800" tIns="50800" rIns="50800" bIns="50800" rtlCol="0" anchor="ctr"/>
            <a:lstStyle/>
            <a:p>
              <a:pPr algn="ctr">
                <a:lnSpc>
                  <a:spcPts val="3080"/>
                </a:lnSpc>
              </a:pPr>
              <a:endParaRPr/>
            </a:p>
          </p:txBody>
        </p:sp>
      </p:grpSp>
      <p:grpSp>
        <p:nvGrpSpPr>
          <p:cNvPr id="11" name="Group 11"/>
          <p:cNvGrpSpPr/>
          <p:nvPr/>
        </p:nvGrpSpPr>
        <p:grpSpPr>
          <a:xfrm>
            <a:off x="15956237" y="5303451"/>
            <a:ext cx="2191390" cy="2955925"/>
            <a:chOff x="0" y="0"/>
            <a:chExt cx="2921854" cy="3941233"/>
          </a:xfrm>
        </p:grpSpPr>
        <p:sp>
          <p:nvSpPr>
            <p:cNvPr id="12" name="TextBox 12"/>
            <p:cNvSpPr txBox="1"/>
            <p:nvPr/>
          </p:nvSpPr>
          <p:spPr>
            <a:xfrm>
              <a:off x="0" y="-28575"/>
              <a:ext cx="2388516" cy="1297728"/>
            </a:xfrm>
            <a:prstGeom prst="rect">
              <a:avLst/>
            </a:prstGeom>
          </p:spPr>
          <p:txBody>
            <a:bodyPr lIns="0" tIns="0" rIns="0" bIns="0" rtlCol="0" anchor="t">
              <a:spAutoFit/>
            </a:bodyPr>
            <a:lstStyle/>
            <a:p>
              <a:pPr algn="l">
                <a:lnSpc>
                  <a:spcPts val="2660"/>
                </a:lnSpc>
              </a:pPr>
              <a:r>
                <a:rPr lang="en-US" sz="1900" b="1">
                  <a:solidFill>
                    <a:srgbClr val="FFDE59"/>
                  </a:solidFill>
                  <a:latin typeface="TT Norms Bold"/>
                  <a:ea typeface="TT Norms Bold"/>
                  <a:cs typeface="TT Norms Bold"/>
                  <a:sym typeface="TT Norms Bold"/>
                </a:rPr>
                <a:t>Create</a:t>
              </a:r>
            </a:p>
            <a:p>
              <a:pPr algn="l">
                <a:lnSpc>
                  <a:spcPts val="2660"/>
                </a:lnSpc>
              </a:pPr>
              <a:r>
                <a:rPr lang="en-US" sz="1900" b="1">
                  <a:solidFill>
                    <a:srgbClr val="FFDE59"/>
                  </a:solidFill>
                  <a:latin typeface="TT Norms Bold"/>
                  <a:ea typeface="TT Norms Bold"/>
                  <a:cs typeface="TT Norms Bold"/>
                  <a:sym typeface="TT Norms Bold"/>
                </a:rPr>
                <a:t>ATS-Friendly Resume</a:t>
              </a:r>
            </a:p>
          </p:txBody>
        </p:sp>
        <p:sp>
          <p:nvSpPr>
            <p:cNvPr id="13" name="TextBox 13"/>
            <p:cNvSpPr txBox="1"/>
            <p:nvPr/>
          </p:nvSpPr>
          <p:spPr>
            <a:xfrm>
              <a:off x="0" y="1300480"/>
              <a:ext cx="2921854" cy="2640753"/>
            </a:xfrm>
            <a:prstGeom prst="rect">
              <a:avLst/>
            </a:prstGeom>
          </p:spPr>
          <p:txBody>
            <a:bodyPr lIns="0" tIns="0" rIns="0" bIns="0" rtlCol="0" anchor="t">
              <a:spAutoFit/>
            </a:bodyPr>
            <a:lstStyle/>
            <a:p>
              <a:pPr marL="0" lvl="0" indent="0" algn="l">
                <a:lnSpc>
                  <a:spcPts val="2660"/>
                </a:lnSpc>
                <a:spcBef>
                  <a:spcPct val="0"/>
                </a:spcBef>
              </a:pPr>
              <a:r>
                <a:rPr lang="en-US" sz="1900" spc="-19">
                  <a:solidFill>
                    <a:srgbClr val="FFFFFF"/>
                  </a:solidFill>
                  <a:latin typeface="TT Fors"/>
                  <a:ea typeface="TT Fors"/>
                  <a:cs typeface="TT Fors"/>
                  <a:sym typeface="TT Fors"/>
                </a:rPr>
                <a:t>optimized resumes for better p</a:t>
              </a:r>
              <a:r>
                <a:rPr lang="en-US" sz="1900" u="none" strike="noStrike" spc="-19">
                  <a:solidFill>
                    <a:srgbClr val="FFFFFF"/>
                  </a:solidFill>
                  <a:latin typeface="TT Fors"/>
                  <a:ea typeface="TT Fors"/>
                  <a:cs typeface="TT Fors"/>
                  <a:sym typeface="TT Fors"/>
                </a:rPr>
                <a:t>lacement opportunities and shortlisting chances.</a:t>
              </a:r>
            </a:p>
          </p:txBody>
        </p:sp>
      </p:grpSp>
      <p:grpSp>
        <p:nvGrpSpPr>
          <p:cNvPr id="14" name="Group 14"/>
          <p:cNvGrpSpPr/>
          <p:nvPr/>
        </p:nvGrpSpPr>
        <p:grpSpPr>
          <a:xfrm>
            <a:off x="15956237" y="2791926"/>
            <a:ext cx="2032852" cy="2121231"/>
            <a:chOff x="0" y="0"/>
            <a:chExt cx="2710470" cy="2828308"/>
          </a:xfrm>
        </p:grpSpPr>
        <p:sp>
          <p:nvSpPr>
            <p:cNvPr id="15" name="TextBox 15"/>
            <p:cNvSpPr txBox="1"/>
            <p:nvPr/>
          </p:nvSpPr>
          <p:spPr>
            <a:xfrm>
              <a:off x="0" y="954395"/>
              <a:ext cx="2710470" cy="1873913"/>
            </a:xfrm>
            <a:prstGeom prst="rect">
              <a:avLst/>
            </a:prstGeom>
          </p:spPr>
          <p:txBody>
            <a:bodyPr lIns="0" tIns="0" rIns="0" bIns="0" rtlCol="0" anchor="t">
              <a:spAutoFit/>
            </a:bodyPr>
            <a:lstStyle/>
            <a:p>
              <a:pPr marL="0" lvl="0" indent="0" algn="l">
                <a:lnSpc>
                  <a:spcPts val="2274"/>
                </a:lnSpc>
                <a:spcBef>
                  <a:spcPct val="0"/>
                </a:spcBef>
              </a:pPr>
              <a:r>
                <a:rPr lang="en-US" sz="1624" spc="-16">
                  <a:solidFill>
                    <a:srgbClr val="FFFFFF"/>
                  </a:solidFill>
                  <a:latin typeface="TT Fors"/>
                  <a:ea typeface="TT Fors"/>
                  <a:cs typeface="TT Fors"/>
                  <a:sym typeface="TT Fors"/>
                </a:rPr>
                <a:t>G</a:t>
              </a:r>
              <a:r>
                <a:rPr lang="en-US" sz="1624" u="none" strike="noStrike" spc="-16">
                  <a:solidFill>
                    <a:srgbClr val="FFFFFF"/>
                  </a:solidFill>
                  <a:latin typeface="TT Fors"/>
                  <a:ea typeface="TT Fors"/>
                  <a:cs typeface="TT Fors"/>
                  <a:sym typeface="TT Fors"/>
                </a:rPr>
                <a:t>uidance from IITians and corporate experts for coding, interviews, and career growth.</a:t>
              </a:r>
            </a:p>
          </p:txBody>
        </p:sp>
        <p:sp>
          <p:nvSpPr>
            <p:cNvPr id="16" name="TextBox 16"/>
            <p:cNvSpPr txBox="1"/>
            <p:nvPr/>
          </p:nvSpPr>
          <p:spPr>
            <a:xfrm>
              <a:off x="0" y="-28575"/>
              <a:ext cx="2479240" cy="853228"/>
            </a:xfrm>
            <a:prstGeom prst="rect">
              <a:avLst/>
            </a:prstGeom>
          </p:spPr>
          <p:txBody>
            <a:bodyPr lIns="0" tIns="0" rIns="0" bIns="0" rtlCol="0" anchor="t">
              <a:spAutoFit/>
            </a:bodyPr>
            <a:lstStyle/>
            <a:p>
              <a:pPr algn="l">
                <a:lnSpc>
                  <a:spcPts val="2660"/>
                </a:lnSpc>
              </a:pPr>
              <a:r>
                <a:rPr lang="en-US" sz="1900" b="1">
                  <a:solidFill>
                    <a:srgbClr val="FFDE59"/>
                  </a:solidFill>
                  <a:latin typeface="TT Norms Bold"/>
                  <a:ea typeface="TT Norms Bold"/>
                  <a:cs typeface="TT Norms Bold"/>
                  <a:sym typeface="TT Norms Bold"/>
                </a:rPr>
                <a:t>1-on-1 Mentorship</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6899384" y="1533129"/>
            <a:ext cx="11301726" cy="7919789"/>
          </a:xfrm>
          <a:prstGeom prst="rect">
            <a:avLst/>
          </a:prstGeom>
        </p:spPr>
      </p:pic>
      <p:sp>
        <p:nvSpPr>
          <p:cNvPr id="3" name="Freeform 3"/>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3"/>
            <a:stretch>
              <a:fillRect l="-16732" t="-87648" r="-14033" b="-113366"/>
            </a:stretch>
          </a:blipFill>
        </p:spPr>
      </p:sp>
      <p:sp>
        <p:nvSpPr>
          <p:cNvPr id="4" name="TextBox 4"/>
          <p:cNvSpPr txBox="1"/>
          <p:nvPr/>
        </p:nvSpPr>
        <p:spPr>
          <a:xfrm>
            <a:off x="849450" y="2684489"/>
            <a:ext cx="6427936" cy="1742866"/>
          </a:xfrm>
          <a:prstGeom prst="rect">
            <a:avLst/>
          </a:prstGeom>
        </p:spPr>
        <p:txBody>
          <a:bodyPr lIns="0" tIns="0" rIns="0" bIns="0" rtlCol="0" anchor="t">
            <a:spAutoFit/>
          </a:bodyPr>
          <a:lstStyle/>
          <a:p>
            <a:pPr algn="l">
              <a:lnSpc>
                <a:spcPts val="6562"/>
              </a:lnSpc>
            </a:pPr>
            <a:r>
              <a:rPr lang="en-US" sz="7373" b="1" spc="-324">
                <a:solidFill>
                  <a:srgbClr val="E4E2DD"/>
                </a:solidFill>
                <a:latin typeface="Aileron Bold"/>
                <a:ea typeface="Aileron Bold"/>
                <a:cs typeface="Aileron Bold"/>
                <a:sym typeface="Aileron Bold"/>
              </a:rPr>
              <a:t>Glimpses of Our Dashboard</a:t>
            </a:r>
          </a:p>
        </p:txBody>
      </p:sp>
      <p:sp>
        <p:nvSpPr>
          <p:cNvPr id="5" name="TextBox 5"/>
          <p:cNvSpPr txBox="1"/>
          <p:nvPr/>
        </p:nvSpPr>
        <p:spPr>
          <a:xfrm>
            <a:off x="849450" y="5552429"/>
            <a:ext cx="6131219" cy="3552513"/>
          </a:xfrm>
          <a:prstGeom prst="rect">
            <a:avLst/>
          </a:prstGeom>
        </p:spPr>
        <p:txBody>
          <a:bodyPr lIns="0" tIns="0" rIns="0" bIns="0" rtlCol="0" anchor="t">
            <a:spAutoFit/>
          </a:bodyPr>
          <a:lstStyle/>
          <a:p>
            <a:pPr algn="l">
              <a:lnSpc>
                <a:spcPts val="2190"/>
              </a:lnSpc>
            </a:pPr>
            <a:r>
              <a:rPr lang="en-US" sz="1825" spc="-36">
                <a:solidFill>
                  <a:srgbClr val="E4E2DD"/>
                </a:solidFill>
                <a:latin typeface="Montserrat"/>
                <a:ea typeface="Montserrat"/>
                <a:cs typeface="Montserrat"/>
                <a:sym typeface="Montserrat"/>
              </a:rPr>
              <a:t>IParticipate in exciting hackathons, coding competitions, and innovation events designed to improve technical skills, teamwork, and real-world problem-solving abilities.</a:t>
            </a:r>
          </a:p>
          <a:p>
            <a:pPr algn="l">
              <a:lnSpc>
                <a:spcPts val="2190"/>
              </a:lnSpc>
            </a:pPr>
            <a:endParaRPr lang="en-US" sz="1825" spc="-36">
              <a:solidFill>
                <a:srgbClr val="E4E2DD"/>
              </a:solidFill>
              <a:latin typeface="Montserrat"/>
              <a:ea typeface="Montserrat"/>
              <a:cs typeface="Montserrat"/>
              <a:sym typeface="Montserrat"/>
            </a:endParaRPr>
          </a:p>
          <a:p>
            <a:pPr algn="l">
              <a:lnSpc>
                <a:spcPts val="2190"/>
              </a:lnSpc>
            </a:pPr>
            <a:r>
              <a:rPr lang="en-US" sz="1825" b="1" spc="-36">
                <a:solidFill>
                  <a:srgbClr val="E4E2DD"/>
                </a:solidFill>
                <a:latin typeface="Montserrat Bold"/>
                <a:ea typeface="Montserrat Bold"/>
                <a:cs typeface="Montserrat Bold"/>
                <a:sym typeface="Montserrat Bold"/>
              </a:rPr>
              <a:t>Key Features</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National &amp; College-Level Hackathons</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Real Industry Problem Statements</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Team Collaboration Experience</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Innovation &amp; Project Building</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Placement-Focused Competitive Events</a:t>
            </a:r>
          </a:p>
          <a:p>
            <a:pPr algn="l">
              <a:lnSpc>
                <a:spcPts val="2190"/>
              </a:lnSpc>
            </a:pPr>
            <a:endParaRPr lang="en-US" sz="1825" spc="-36">
              <a:solidFill>
                <a:srgbClr val="E4E2DD"/>
              </a:solidFill>
              <a:latin typeface="Montserrat"/>
              <a:ea typeface="Montserrat"/>
              <a:cs typeface="Montserrat"/>
              <a:sym typeface="Montserrat"/>
            </a:endParaRPr>
          </a:p>
          <a:p>
            <a:pPr algn="l">
              <a:lnSpc>
                <a:spcPts val="2190"/>
              </a:lnSpc>
            </a:pPr>
            <a:endParaRPr lang="en-US" sz="1825" spc="-36">
              <a:solidFill>
                <a:srgbClr val="E4E2DD"/>
              </a:solidFill>
              <a:latin typeface="Montserrat"/>
              <a:ea typeface="Montserrat"/>
              <a:cs typeface="Montserrat"/>
              <a:sym typeface="Montserrat"/>
            </a:endParaRPr>
          </a:p>
        </p:txBody>
      </p:sp>
      <p:sp>
        <p:nvSpPr>
          <p:cNvPr id="6" name="TextBox 6"/>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
        <p:nvSpPr>
          <p:cNvPr id="7" name="TextBox 7"/>
          <p:cNvSpPr txBox="1"/>
          <p:nvPr/>
        </p:nvSpPr>
        <p:spPr>
          <a:xfrm>
            <a:off x="849450" y="4663917"/>
            <a:ext cx="7316979" cy="417342"/>
          </a:xfrm>
          <a:prstGeom prst="rect">
            <a:avLst/>
          </a:prstGeom>
        </p:spPr>
        <p:txBody>
          <a:bodyPr lIns="0" tIns="0" rIns="0" bIns="0" rtlCol="0" anchor="t">
            <a:spAutoFit/>
          </a:bodyPr>
          <a:lstStyle/>
          <a:p>
            <a:pPr algn="l">
              <a:lnSpc>
                <a:spcPts val="3051"/>
              </a:lnSpc>
            </a:pPr>
            <a:r>
              <a:rPr lang="en-US" sz="3428" b="1" spc="-150">
                <a:solidFill>
                  <a:srgbClr val="E4E2DD"/>
                </a:solidFill>
                <a:latin typeface="Aileron Bold"/>
                <a:ea typeface="Aileron Bold"/>
                <a:cs typeface="Aileron Bold"/>
                <a:sym typeface="Aileron Bold"/>
              </a:rPr>
              <a:t>6. Hackathons &amp; Events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6899384" y="1533129"/>
            <a:ext cx="11301726" cy="7919789"/>
          </a:xfrm>
          <a:prstGeom prst="rect">
            <a:avLst/>
          </a:prstGeom>
        </p:spPr>
      </p:pic>
      <p:sp>
        <p:nvSpPr>
          <p:cNvPr id="3" name="Freeform 3"/>
          <p:cNvSpPr/>
          <p:nvPr/>
        </p:nvSpPr>
        <p:spPr>
          <a:xfrm>
            <a:off x="849450" y="458965"/>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3"/>
            <a:stretch>
              <a:fillRect l="-16732" t="-87648" r="-14033" b="-113366"/>
            </a:stretch>
          </a:blipFill>
        </p:spPr>
      </p:sp>
      <p:sp>
        <p:nvSpPr>
          <p:cNvPr id="4" name="TextBox 4"/>
          <p:cNvSpPr txBox="1"/>
          <p:nvPr/>
        </p:nvSpPr>
        <p:spPr>
          <a:xfrm>
            <a:off x="1028700" y="1767200"/>
            <a:ext cx="6142220" cy="1656083"/>
          </a:xfrm>
          <a:prstGeom prst="rect">
            <a:avLst/>
          </a:prstGeom>
        </p:spPr>
        <p:txBody>
          <a:bodyPr lIns="0" tIns="0" rIns="0" bIns="0" rtlCol="0" anchor="t">
            <a:spAutoFit/>
          </a:bodyPr>
          <a:lstStyle/>
          <a:p>
            <a:pPr algn="l">
              <a:lnSpc>
                <a:spcPts val="6271"/>
              </a:lnSpc>
            </a:pPr>
            <a:r>
              <a:rPr lang="en-US" sz="7046" b="1" spc="-310">
                <a:solidFill>
                  <a:srgbClr val="E4E2DD"/>
                </a:solidFill>
                <a:latin typeface="Aileron Bold"/>
                <a:ea typeface="Aileron Bold"/>
                <a:cs typeface="Aileron Bold"/>
                <a:sym typeface="Aileron Bold"/>
              </a:rPr>
              <a:t>Glimpses of Our Dashboard</a:t>
            </a:r>
          </a:p>
        </p:txBody>
      </p:sp>
      <p:sp>
        <p:nvSpPr>
          <p:cNvPr id="5" name="TextBox 5"/>
          <p:cNvSpPr txBox="1"/>
          <p:nvPr/>
        </p:nvSpPr>
        <p:spPr>
          <a:xfrm>
            <a:off x="1028700" y="4498348"/>
            <a:ext cx="5858691" cy="6598676"/>
          </a:xfrm>
          <a:prstGeom prst="rect">
            <a:avLst/>
          </a:prstGeom>
        </p:spPr>
        <p:txBody>
          <a:bodyPr lIns="0" tIns="0" rIns="0" bIns="0" rtlCol="0" anchor="t">
            <a:spAutoFit/>
          </a:bodyPr>
          <a:lstStyle/>
          <a:p>
            <a:pPr algn="l">
              <a:lnSpc>
                <a:spcPts val="2093"/>
              </a:lnSpc>
            </a:pPr>
            <a:r>
              <a:rPr lang="en-US" sz="1744" spc="-34">
                <a:solidFill>
                  <a:srgbClr val="E4E2DD"/>
                </a:solidFill>
                <a:latin typeface="Montserrat"/>
                <a:ea typeface="Montserrat"/>
                <a:cs typeface="Montserrat"/>
                <a:sym typeface="Montserrat"/>
              </a:rPr>
              <a:t>IPAn intelligent job recommendation system designed to connect students with relevant placement opportunities based on their skills, learning progress, and career interests.</a:t>
            </a:r>
          </a:p>
          <a:p>
            <a:pPr algn="l">
              <a:lnSpc>
                <a:spcPts val="2093"/>
              </a:lnSpc>
            </a:pPr>
            <a:endParaRPr lang="en-US" sz="1744" spc="-34">
              <a:solidFill>
                <a:srgbClr val="E4E2DD"/>
              </a:solidFill>
              <a:latin typeface="Montserrat"/>
              <a:ea typeface="Montserrat"/>
              <a:cs typeface="Montserrat"/>
              <a:sym typeface="Montserrat"/>
            </a:endParaRPr>
          </a:p>
          <a:p>
            <a:pPr algn="l">
              <a:lnSpc>
                <a:spcPts val="2093"/>
              </a:lnSpc>
            </a:pPr>
            <a:r>
              <a:rPr lang="en-US" sz="1744" b="1" spc="-34">
                <a:solidFill>
                  <a:srgbClr val="E4E2DD"/>
                </a:solidFill>
                <a:latin typeface="Montserrat Bold"/>
                <a:ea typeface="Montserrat Bold"/>
                <a:cs typeface="Montserrat Bold"/>
                <a:sym typeface="Montserrat Bold"/>
              </a:rPr>
              <a:t>Key Features</a:t>
            </a:r>
          </a:p>
          <a:p>
            <a:pPr marL="376646" lvl="1" indent="-188323" algn="l">
              <a:lnSpc>
                <a:spcPts val="2093"/>
              </a:lnSpc>
              <a:buFont typeface="Arial"/>
              <a:buChar char="•"/>
            </a:pPr>
            <a:r>
              <a:rPr lang="en-US" sz="1744" spc="-34">
                <a:solidFill>
                  <a:srgbClr val="E4E2DD"/>
                </a:solidFill>
                <a:latin typeface="Montserrat"/>
                <a:ea typeface="Montserrat"/>
                <a:cs typeface="Montserrat"/>
                <a:sym typeface="Montserrat"/>
              </a:rPr>
              <a:t>AI-Based Job Recommendations</a:t>
            </a:r>
          </a:p>
          <a:p>
            <a:pPr marL="376646" lvl="1" indent="-188323" algn="l">
              <a:lnSpc>
                <a:spcPts val="2093"/>
              </a:lnSpc>
              <a:buFont typeface="Arial"/>
              <a:buChar char="•"/>
            </a:pPr>
            <a:r>
              <a:rPr lang="en-US" sz="1744" spc="-34">
                <a:solidFill>
                  <a:srgbClr val="E4E2DD"/>
                </a:solidFill>
                <a:latin typeface="Montserrat"/>
                <a:ea typeface="Montserrat"/>
                <a:cs typeface="Montserrat"/>
                <a:sym typeface="Montserrat"/>
              </a:rPr>
              <a:t>Placement-Focused Opportunities</a:t>
            </a:r>
          </a:p>
          <a:p>
            <a:pPr marL="376646" lvl="1" indent="-188323" algn="l">
              <a:lnSpc>
                <a:spcPts val="2093"/>
              </a:lnSpc>
              <a:buFont typeface="Arial"/>
              <a:buChar char="•"/>
            </a:pPr>
            <a:r>
              <a:rPr lang="en-US" sz="1744" spc="-34">
                <a:solidFill>
                  <a:srgbClr val="E4E2DD"/>
                </a:solidFill>
                <a:latin typeface="Montserrat"/>
                <a:ea typeface="Montserrat"/>
                <a:cs typeface="Montserrat"/>
                <a:sym typeface="Montserrat"/>
              </a:rPr>
              <a:t>Skill &amp; Profile Matching</a:t>
            </a:r>
          </a:p>
          <a:p>
            <a:pPr marL="376646" lvl="1" indent="-188323" algn="l">
              <a:lnSpc>
                <a:spcPts val="2093"/>
              </a:lnSpc>
              <a:buFont typeface="Arial"/>
              <a:buChar char="•"/>
            </a:pPr>
            <a:r>
              <a:rPr lang="en-US" sz="1744" spc="-34">
                <a:solidFill>
                  <a:srgbClr val="E4E2DD"/>
                </a:solidFill>
                <a:latin typeface="Montserrat"/>
                <a:ea typeface="Montserrat"/>
                <a:cs typeface="Montserrat"/>
                <a:sym typeface="Montserrat"/>
              </a:rPr>
              <a:t>Easy Job Application Process</a:t>
            </a:r>
          </a:p>
          <a:p>
            <a:pPr marL="376646" lvl="1" indent="-188323" algn="l">
              <a:lnSpc>
                <a:spcPts val="2093"/>
              </a:lnSpc>
              <a:buFont typeface="Arial"/>
              <a:buChar char="•"/>
            </a:pPr>
            <a:r>
              <a:rPr lang="en-US" sz="1744" spc="-34">
                <a:solidFill>
                  <a:srgbClr val="E4E2DD"/>
                </a:solidFill>
                <a:latin typeface="Montserrat"/>
                <a:ea typeface="Montserrat"/>
                <a:cs typeface="Montserrat"/>
                <a:sym typeface="Montserrat"/>
              </a:rPr>
              <a:t>Internship &amp; Full-Time Opportunities</a:t>
            </a:r>
          </a:p>
          <a:p>
            <a:pPr marL="376646" lvl="1" indent="-188323" algn="l">
              <a:lnSpc>
                <a:spcPts val="2093"/>
              </a:lnSpc>
              <a:buFont typeface="Arial"/>
              <a:buChar char="•"/>
            </a:pPr>
            <a:r>
              <a:rPr lang="en-US" sz="1744" spc="-34">
                <a:solidFill>
                  <a:srgbClr val="E4E2DD"/>
                </a:solidFill>
                <a:latin typeface="Montserrat"/>
                <a:ea typeface="Montserrat"/>
                <a:cs typeface="Montserrat"/>
                <a:sym typeface="Montserrat"/>
              </a:rPr>
              <a:t>User-Friendly Dashboard Experience</a:t>
            </a:r>
          </a:p>
          <a:p>
            <a:pPr algn="l">
              <a:lnSpc>
                <a:spcPts val="2093"/>
              </a:lnSpc>
            </a:pPr>
            <a:endParaRPr lang="en-US" sz="1744" spc="-34">
              <a:solidFill>
                <a:srgbClr val="E4E2DD"/>
              </a:solidFill>
              <a:latin typeface="Montserrat"/>
              <a:ea typeface="Montserrat"/>
              <a:cs typeface="Montserrat"/>
              <a:sym typeface="Montserrat"/>
            </a:endParaRPr>
          </a:p>
          <a:p>
            <a:pPr algn="l">
              <a:lnSpc>
                <a:spcPts val="2093"/>
              </a:lnSpc>
            </a:pPr>
            <a:r>
              <a:rPr lang="en-US" sz="1744" b="1" spc="-34">
                <a:solidFill>
                  <a:srgbClr val="E4E2DD"/>
                </a:solidFill>
                <a:latin typeface="Montserrat Bold"/>
                <a:ea typeface="Montserrat Bold"/>
                <a:cs typeface="Montserrat Bold"/>
                <a:sym typeface="Montserrat Bold"/>
              </a:rPr>
              <a:t>Purpose</a:t>
            </a:r>
          </a:p>
          <a:p>
            <a:pPr algn="l">
              <a:lnSpc>
                <a:spcPts val="2093"/>
              </a:lnSpc>
            </a:pPr>
            <a:r>
              <a:rPr lang="en-US" sz="1744" spc="-34">
                <a:solidFill>
                  <a:srgbClr val="E4E2DD"/>
                </a:solidFill>
                <a:latin typeface="Montserrat"/>
                <a:ea typeface="Montserrat"/>
                <a:cs typeface="Montserrat"/>
                <a:sym typeface="Montserrat"/>
              </a:rPr>
              <a:t>Helping students discover the right career opportunities faster and improve their placement success rate.</a:t>
            </a:r>
          </a:p>
          <a:p>
            <a:pPr algn="l">
              <a:lnSpc>
                <a:spcPts val="2093"/>
              </a:lnSpc>
            </a:pPr>
            <a:endParaRPr lang="en-US" sz="1744" spc="-34">
              <a:solidFill>
                <a:srgbClr val="E4E2DD"/>
              </a:solidFill>
              <a:latin typeface="Montserrat"/>
              <a:ea typeface="Montserrat"/>
              <a:cs typeface="Montserrat"/>
              <a:sym typeface="Montserrat"/>
            </a:endParaRPr>
          </a:p>
          <a:p>
            <a:pPr algn="l">
              <a:lnSpc>
                <a:spcPts val="2093"/>
              </a:lnSpc>
            </a:pPr>
            <a:endParaRPr lang="en-US" sz="1744" spc="-34">
              <a:solidFill>
                <a:srgbClr val="E4E2DD"/>
              </a:solidFill>
              <a:latin typeface="Montserrat"/>
              <a:ea typeface="Montserrat"/>
              <a:cs typeface="Montserrat"/>
              <a:sym typeface="Montserrat"/>
            </a:endParaRPr>
          </a:p>
          <a:p>
            <a:pPr algn="l">
              <a:lnSpc>
                <a:spcPts val="2093"/>
              </a:lnSpc>
            </a:pPr>
            <a:endParaRPr lang="en-US" sz="1744" spc="-34">
              <a:solidFill>
                <a:srgbClr val="E4E2DD"/>
              </a:solidFill>
              <a:latin typeface="Montserrat"/>
              <a:ea typeface="Montserrat"/>
              <a:cs typeface="Montserrat"/>
              <a:sym typeface="Montserrat"/>
            </a:endParaRPr>
          </a:p>
          <a:p>
            <a:pPr algn="l">
              <a:lnSpc>
                <a:spcPts val="2093"/>
              </a:lnSpc>
            </a:pPr>
            <a:endParaRPr lang="en-US" sz="1744" spc="-34">
              <a:solidFill>
                <a:srgbClr val="E4E2DD"/>
              </a:solidFill>
              <a:latin typeface="Montserrat"/>
              <a:ea typeface="Montserrat"/>
              <a:cs typeface="Montserrat"/>
              <a:sym typeface="Montserrat"/>
            </a:endParaRPr>
          </a:p>
          <a:p>
            <a:pPr algn="l">
              <a:lnSpc>
                <a:spcPts val="2093"/>
              </a:lnSpc>
            </a:pPr>
            <a:endParaRPr lang="en-US" sz="1744" spc="-34">
              <a:solidFill>
                <a:srgbClr val="E4E2DD"/>
              </a:solidFill>
              <a:latin typeface="Montserrat"/>
              <a:ea typeface="Montserrat"/>
              <a:cs typeface="Montserrat"/>
              <a:sym typeface="Montserrat"/>
            </a:endParaRPr>
          </a:p>
          <a:p>
            <a:pPr algn="l">
              <a:lnSpc>
                <a:spcPts val="2093"/>
              </a:lnSpc>
            </a:pPr>
            <a:endParaRPr lang="en-US" sz="1744" spc="-34">
              <a:solidFill>
                <a:srgbClr val="E4E2DD"/>
              </a:solidFill>
              <a:latin typeface="Montserrat"/>
              <a:ea typeface="Montserrat"/>
              <a:cs typeface="Montserrat"/>
              <a:sym typeface="Montserrat"/>
            </a:endParaRPr>
          </a:p>
          <a:p>
            <a:pPr algn="l">
              <a:lnSpc>
                <a:spcPts val="2093"/>
              </a:lnSpc>
            </a:pPr>
            <a:endParaRPr lang="en-US" sz="1744" spc="-34">
              <a:solidFill>
                <a:srgbClr val="E4E2DD"/>
              </a:solidFill>
              <a:latin typeface="Montserrat"/>
              <a:ea typeface="Montserrat"/>
              <a:cs typeface="Montserrat"/>
              <a:sym typeface="Montserrat"/>
            </a:endParaRPr>
          </a:p>
          <a:p>
            <a:pPr algn="l">
              <a:lnSpc>
                <a:spcPts val="2093"/>
              </a:lnSpc>
            </a:pPr>
            <a:endParaRPr lang="en-US" sz="1744" spc="-34">
              <a:solidFill>
                <a:srgbClr val="E4E2DD"/>
              </a:solidFill>
              <a:latin typeface="Montserrat"/>
              <a:ea typeface="Montserrat"/>
              <a:cs typeface="Montserrat"/>
              <a:sym typeface="Montserrat"/>
            </a:endParaRPr>
          </a:p>
        </p:txBody>
      </p:sp>
      <p:sp>
        <p:nvSpPr>
          <p:cNvPr id="6" name="TextBox 6"/>
          <p:cNvSpPr txBox="1"/>
          <p:nvPr/>
        </p:nvSpPr>
        <p:spPr>
          <a:xfrm>
            <a:off x="15679482" y="597737"/>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
        <p:nvSpPr>
          <p:cNvPr id="7" name="TextBox 7"/>
          <p:cNvSpPr txBox="1"/>
          <p:nvPr/>
        </p:nvSpPr>
        <p:spPr>
          <a:xfrm>
            <a:off x="1028700" y="3644038"/>
            <a:ext cx="6991745" cy="404083"/>
          </a:xfrm>
          <a:prstGeom prst="rect">
            <a:avLst/>
          </a:prstGeom>
        </p:spPr>
        <p:txBody>
          <a:bodyPr lIns="0" tIns="0" rIns="0" bIns="0" rtlCol="0" anchor="t">
            <a:spAutoFit/>
          </a:bodyPr>
          <a:lstStyle/>
          <a:p>
            <a:pPr algn="l">
              <a:lnSpc>
                <a:spcPts val="2915"/>
              </a:lnSpc>
            </a:pPr>
            <a:r>
              <a:rPr lang="en-US" sz="3276" b="1" spc="-144">
                <a:solidFill>
                  <a:srgbClr val="E4E2DD"/>
                </a:solidFill>
                <a:latin typeface="Aileron Bold"/>
                <a:ea typeface="Aileron Bold"/>
                <a:cs typeface="Aileron Bold"/>
                <a:sym typeface="Aileron Bold"/>
              </a:rPr>
              <a:t>7. Recommended Jobs Panel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935088" y="1572406"/>
            <a:ext cx="10830401" cy="7589504"/>
          </a:xfrm>
          <a:prstGeom prst="rect">
            <a:avLst/>
          </a:prstGeom>
        </p:spPr>
      </p:pic>
      <p:sp>
        <p:nvSpPr>
          <p:cNvPr id="3" name="Freeform 3"/>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3"/>
            <a:stretch>
              <a:fillRect l="-16732" t="-87648" r="-14033" b="-113366"/>
            </a:stretch>
          </a:blipFill>
        </p:spPr>
      </p:sp>
      <p:grpSp>
        <p:nvGrpSpPr>
          <p:cNvPr id="4" name="Group 4"/>
          <p:cNvGrpSpPr/>
          <p:nvPr/>
        </p:nvGrpSpPr>
        <p:grpSpPr>
          <a:xfrm>
            <a:off x="15704810" y="2791926"/>
            <a:ext cx="47625" cy="4417134"/>
            <a:chOff x="0" y="0"/>
            <a:chExt cx="12543" cy="1163360"/>
          </a:xfrm>
        </p:grpSpPr>
        <p:sp>
          <p:nvSpPr>
            <p:cNvPr id="5" name="Freeform 5"/>
            <p:cNvSpPr/>
            <p:nvPr/>
          </p:nvSpPr>
          <p:spPr>
            <a:xfrm>
              <a:off x="0" y="0"/>
              <a:ext cx="12543" cy="1163360"/>
            </a:xfrm>
            <a:custGeom>
              <a:avLst/>
              <a:gdLst/>
              <a:ahLst/>
              <a:cxnLst/>
              <a:rect l="l" t="t" r="r" b="b"/>
              <a:pathLst>
                <a:path w="12543" h="1163360">
                  <a:moveTo>
                    <a:pt x="0" y="0"/>
                  </a:moveTo>
                  <a:lnTo>
                    <a:pt x="12543" y="0"/>
                  </a:lnTo>
                  <a:lnTo>
                    <a:pt x="12543" y="1163360"/>
                  </a:lnTo>
                  <a:lnTo>
                    <a:pt x="0" y="1163360"/>
                  </a:lnTo>
                  <a:close/>
                </a:path>
              </a:pathLst>
            </a:custGeom>
            <a:solidFill>
              <a:srgbClr val="858C8B"/>
            </a:solidFill>
          </p:spPr>
        </p:sp>
        <p:sp>
          <p:nvSpPr>
            <p:cNvPr id="6" name="TextBox 6"/>
            <p:cNvSpPr txBox="1"/>
            <p:nvPr/>
          </p:nvSpPr>
          <p:spPr>
            <a:xfrm>
              <a:off x="0" y="-38100"/>
              <a:ext cx="12543" cy="1201460"/>
            </a:xfrm>
            <a:prstGeom prst="rect">
              <a:avLst/>
            </a:prstGeom>
          </p:spPr>
          <p:txBody>
            <a:bodyPr lIns="50800" tIns="50800" rIns="50800" bIns="50800" rtlCol="0" anchor="ctr"/>
            <a:lstStyle/>
            <a:p>
              <a:pPr algn="ctr">
                <a:lnSpc>
                  <a:spcPts val="3080"/>
                </a:lnSpc>
              </a:pPr>
              <a:endParaRPr/>
            </a:p>
          </p:txBody>
        </p:sp>
      </p:grpSp>
      <p:sp>
        <p:nvSpPr>
          <p:cNvPr id="7" name="TextBox 7"/>
          <p:cNvSpPr txBox="1"/>
          <p:nvPr/>
        </p:nvSpPr>
        <p:spPr>
          <a:xfrm>
            <a:off x="613121" y="2671216"/>
            <a:ext cx="6427936" cy="1742866"/>
          </a:xfrm>
          <a:prstGeom prst="rect">
            <a:avLst/>
          </a:prstGeom>
        </p:spPr>
        <p:txBody>
          <a:bodyPr lIns="0" tIns="0" rIns="0" bIns="0" rtlCol="0" anchor="t">
            <a:spAutoFit/>
          </a:bodyPr>
          <a:lstStyle/>
          <a:p>
            <a:pPr algn="l">
              <a:lnSpc>
                <a:spcPts val="6562"/>
              </a:lnSpc>
            </a:pPr>
            <a:r>
              <a:rPr lang="en-US" sz="7373" b="1" spc="-324">
                <a:solidFill>
                  <a:srgbClr val="E4E2DD"/>
                </a:solidFill>
                <a:latin typeface="Aileron Bold"/>
                <a:ea typeface="Aileron Bold"/>
                <a:cs typeface="Aileron Bold"/>
                <a:sym typeface="Aileron Bold"/>
              </a:rPr>
              <a:t>Glimpses of Our Dashboard</a:t>
            </a:r>
          </a:p>
        </p:txBody>
      </p:sp>
      <p:sp>
        <p:nvSpPr>
          <p:cNvPr id="8" name="TextBox 8"/>
          <p:cNvSpPr txBox="1"/>
          <p:nvPr/>
        </p:nvSpPr>
        <p:spPr>
          <a:xfrm>
            <a:off x="613121" y="5539156"/>
            <a:ext cx="6131219" cy="3279243"/>
          </a:xfrm>
          <a:prstGeom prst="rect">
            <a:avLst/>
          </a:prstGeom>
        </p:spPr>
        <p:txBody>
          <a:bodyPr lIns="0" tIns="0" rIns="0" bIns="0" rtlCol="0" anchor="t">
            <a:spAutoFit/>
          </a:bodyPr>
          <a:lstStyle/>
          <a:p>
            <a:pPr algn="l">
              <a:lnSpc>
                <a:spcPts val="2190"/>
              </a:lnSpc>
            </a:pPr>
            <a:r>
              <a:rPr lang="en-US" sz="1825" spc="-36">
                <a:solidFill>
                  <a:srgbClr val="E4E2DD"/>
                </a:solidFill>
                <a:latin typeface="Montserrat"/>
                <a:ea typeface="Montserrat"/>
                <a:cs typeface="Montserrat"/>
                <a:sym typeface="Montserrat"/>
              </a:rPr>
              <a:t>Industry-focused courses designed according to student needs and placement requirements, helping students build real-world skills and become career-ready.</a:t>
            </a:r>
          </a:p>
          <a:p>
            <a:pPr algn="l">
              <a:lnSpc>
                <a:spcPts val="2190"/>
              </a:lnSpc>
            </a:pPr>
            <a:endParaRPr lang="en-US" sz="1825" spc="-36">
              <a:solidFill>
                <a:srgbClr val="E4E2DD"/>
              </a:solidFill>
              <a:latin typeface="Montserrat"/>
              <a:ea typeface="Montserrat"/>
              <a:cs typeface="Montserrat"/>
              <a:sym typeface="Montserrat"/>
            </a:endParaRPr>
          </a:p>
          <a:p>
            <a:pPr algn="l">
              <a:lnSpc>
                <a:spcPts val="2190"/>
              </a:lnSpc>
            </a:pPr>
            <a:r>
              <a:rPr lang="en-US" sz="1825" b="1" spc="-36">
                <a:solidFill>
                  <a:srgbClr val="E4E2DD"/>
                </a:solidFill>
                <a:latin typeface="Montserrat Bold"/>
                <a:ea typeface="Montserrat Bold"/>
                <a:cs typeface="Montserrat Bold"/>
                <a:sym typeface="Montserrat Bold"/>
              </a:rPr>
              <a:t>Key Features</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Placement-Oriented Courses</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Web Development, DSA &amp; Data Science</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AI-Enabled Learning Experience</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Student Demand-Based Training</a:t>
            </a:r>
          </a:p>
          <a:p>
            <a:pPr algn="l">
              <a:lnSpc>
                <a:spcPts val="2190"/>
              </a:lnSpc>
            </a:pPr>
            <a:endParaRPr lang="en-US" sz="1825" spc="-36">
              <a:solidFill>
                <a:srgbClr val="E4E2DD"/>
              </a:solidFill>
              <a:latin typeface="Montserrat"/>
              <a:ea typeface="Montserrat"/>
              <a:cs typeface="Montserrat"/>
              <a:sym typeface="Montserrat"/>
            </a:endParaRPr>
          </a:p>
          <a:p>
            <a:pPr algn="l">
              <a:lnSpc>
                <a:spcPts val="2190"/>
              </a:lnSpc>
            </a:pPr>
            <a:endParaRPr lang="en-US" sz="1825" spc="-36">
              <a:solidFill>
                <a:srgbClr val="E4E2DD"/>
              </a:solidFill>
              <a:latin typeface="Montserrat"/>
              <a:ea typeface="Montserrat"/>
              <a:cs typeface="Montserrat"/>
              <a:sym typeface="Montserrat"/>
            </a:endParaRPr>
          </a:p>
        </p:txBody>
      </p:sp>
      <p:sp>
        <p:nvSpPr>
          <p:cNvPr id="9" name="TextBox 9"/>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
        <p:nvSpPr>
          <p:cNvPr id="10" name="TextBox 10"/>
          <p:cNvSpPr txBox="1"/>
          <p:nvPr/>
        </p:nvSpPr>
        <p:spPr>
          <a:xfrm>
            <a:off x="613121" y="4650644"/>
            <a:ext cx="7316979" cy="417342"/>
          </a:xfrm>
          <a:prstGeom prst="rect">
            <a:avLst/>
          </a:prstGeom>
        </p:spPr>
        <p:txBody>
          <a:bodyPr lIns="0" tIns="0" rIns="0" bIns="0" rtlCol="0" anchor="t">
            <a:spAutoFit/>
          </a:bodyPr>
          <a:lstStyle/>
          <a:p>
            <a:pPr algn="l">
              <a:lnSpc>
                <a:spcPts val="3051"/>
              </a:lnSpc>
            </a:pPr>
            <a:r>
              <a:rPr lang="en-US" sz="3428" b="1" spc="-150">
                <a:solidFill>
                  <a:srgbClr val="E4E2DD"/>
                </a:solidFill>
                <a:latin typeface="Aileron Bold"/>
                <a:ea typeface="Aileron Bold"/>
                <a:cs typeface="Aileron Bold"/>
                <a:sym typeface="Aileron Bold"/>
              </a:rPr>
              <a:t>5. Coding Contests</a:t>
            </a:r>
          </a:p>
        </p:txBody>
      </p:sp>
      <p:grpSp>
        <p:nvGrpSpPr>
          <p:cNvPr id="11" name="Group 11"/>
          <p:cNvGrpSpPr/>
          <p:nvPr/>
        </p:nvGrpSpPr>
        <p:grpSpPr>
          <a:xfrm>
            <a:off x="15956237" y="5303451"/>
            <a:ext cx="2191390" cy="2955925"/>
            <a:chOff x="0" y="0"/>
            <a:chExt cx="2921854" cy="3941233"/>
          </a:xfrm>
        </p:grpSpPr>
        <p:sp>
          <p:nvSpPr>
            <p:cNvPr id="12" name="TextBox 12"/>
            <p:cNvSpPr txBox="1"/>
            <p:nvPr/>
          </p:nvSpPr>
          <p:spPr>
            <a:xfrm>
              <a:off x="0" y="-28575"/>
              <a:ext cx="2388516" cy="1297728"/>
            </a:xfrm>
            <a:prstGeom prst="rect">
              <a:avLst/>
            </a:prstGeom>
          </p:spPr>
          <p:txBody>
            <a:bodyPr lIns="0" tIns="0" rIns="0" bIns="0" rtlCol="0" anchor="t">
              <a:spAutoFit/>
            </a:bodyPr>
            <a:lstStyle/>
            <a:p>
              <a:pPr algn="l">
                <a:lnSpc>
                  <a:spcPts val="2660"/>
                </a:lnSpc>
              </a:pPr>
              <a:r>
                <a:rPr lang="en-US" sz="1900" b="1">
                  <a:solidFill>
                    <a:srgbClr val="FFDE59"/>
                  </a:solidFill>
                  <a:latin typeface="TT Norms Bold"/>
                  <a:ea typeface="TT Norms Bold"/>
                  <a:cs typeface="TT Norms Bold"/>
                  <a:sym typeface="TT Norms Bold"/>
                </a:rPr>
                <a:t>Create</a:t>
              </a:r>
            </a:p>
            <a:p>
              <a:pPr algn="l">
                <a:lnSpc>
                  <a:spcPts val="2660"/>
                </a:lnSpc>
              </a:pPr>
              <a:r>
                <a:rPr lang="en-US" sz="1900" b="1">
                  <a:solidFill>
                    <a:srgbClr val="FFDE59"/>
                  </a:solidFill>
                  <a:latin typeface="TT Norms Bold"/>
                  <a:ea typeface="TT Norms Bold"/>
                  <a:cs typeface="TT Norms Bold"/>
                  <a:sym typeface="TT Norms Bold"/>
                </a:rPr>
                <a:t>ATS-Friendly Resume</a:t>
              </a:r>
            </a:p>
          </p:txBody>
        </p:sp>
        <p:sp>
          <p:nvSpPr>
            <p:cNvPr id="13" name="TextBox 13"/>
            <p:cNvSpPr txBox="1"/>
            <p:nvPr/>
          </p:nvSpPr>
          <p:spPr>
            <a:xfrm>
              <a:off x="0" y="1300480"/>
              <a:ext cx="2921854" cy="2640753"/>
            </a:xfrm>
            <a:prstGeom prst="rect">
              <a:avLst/>
            </a:prstGeom>
          </p:spPr>
          <p:txBody>
            <a:bodyPr lIns="0" tIns="0" rIns="0" bIns="0" rtlCol="0" anchor="t">
              <a:spAutoFit/>
            </a:bodyPr>
            <a:lstStyle/>
            <a:p>
              <a:pPr marL="0" lvl="0" indent="0" algn="l">
                <a:lnSpc>
                  <a:spcPts val="2660"/>
                </a:lnSpc>
                <a:spcBef>
                  <a:spcPct val="0"/>
                </a:spcBef>
              </a:pPr>
              <a:r>
                <a:rPr lang="en-US" sz="1900" spc="-19">
                  <a:solidFill>
                    <a:srgbClr val="FFFFFF"/>
                  </a:solidFill>
                  <a:latin typeface="TT Fors"/>
                  <a:ea typeface="TT Fors"/>
                  <a:cs typeface="TT Fors"/>
                  <a:sym typeface="TT Fors"/>
                </a:rPr>
                <a:t>optimized resumes for better p</a:t>
              </a:r>
              <a:r>
                <a:rPr lang="en-US" sz="1900" u="none" strike="noStrike" spc="-19">
                  <a:solidFill>
                    <a:srgbClr val="FFFFFF"/>
                  </a:solidFill>
                  <a:latin typeface="TT Fors"/>
                  <a:ea typeface="TT Fors"/>
                  <a:cs typeface="TT Fors"/>
                  <a:sym typeface="TT Fors"/>
                </a:rPr>
                <a:t>lacement opportunities and shortlisting chances.</a:t>
              </a:r>
            </a:p>
          </p:txBody>
        </p:sp>
      </p:grpSp>
      <p:grpSp>
        <p:nvGrpSpPr>
          <p:cNvPr id="14" name="Group 14"/>
          <p:cNvGrpSpPr/>
          <p:nvPr/>
        </p:nvGrpSpPr>
        <p:grpSpPr>
          <a:xfrm>
            <a:off x="15956237" y="2791926"/>
            <a:ext cx="2032852" cy="2121231"/>
            <a:chOff x="0" y="0"/>
            <a:chExt cx="2710470" cy="2828308"/>
          </a:xfrm>
        </p:grpSpPr>
        <p:sp>
          <p:nvSpPr>
            <p:cNvPr id="15" name="TextBox 15"/>
            <p:cNvSpPr txBox="1"/>
            <p:nvPr/>
          </p:nvSpPr>
          <p:spPr>
            <a:xfrm>
              <a:off x="0" y="954395"/>
              <a:ext cx="2710470" cy="1873913"/>
            </a:xfrm>
            <a:prstGeom prst="rect">
              <a:avLst/>
            </a:prstGeom>
          </p:spPr>
          <p:txBody>
            <a:bodyPr lIns="0" tIns="0" rIns="0" bIns="0" rtlCol="0" anchor="t">
              <a:spAutoFit/>
            </a:bodyPr>
            <a:lstStyle/>
            <a:p>
              <a:pPr marL="0" lvl="0" indent="0" algn="l">
                <a:lnSpc>
                  <a:spcPts val="2274"/>
                </a:lnSpc>
                <a:spcBef>
                  <a:spcPct val="0"/>
                </a:spcBef>
              </a:pPr>
              <a:r>
                <a:rPr lang="en-US" sz="1624" spc="-16">
                  <a:solidFill>
                    <a:srgbClr val="FFFFFF"/>
                  </a:solidFill>
                  <a:latin typeface="TT Fors"/>
                  <a:ea typeface="TT Fors"/>
                  <a:cs typeface="TT Fors"/>
                  <a:sym typeface="TT Fors"/>
                </a:rPr>
                <a:t>G</a:t>
              </a:r>
              <a:r>
                <a:rPr lang="en-US" sz="1624" u="none" strike="noStrike" spc="-16">
                  <a:solidFill>
                    <a:srgbClr val="FFFFFF"/>
                  </a:solidFill>
                  <a:latin typeface="TT Fors"/>
                  <a:ea typeface="TT Fors"/>
                  <a:cs typeface="TT Fors"/>
                  <a:sym typeface="TT Fors"/>
                </a:rPr>
                <a:t>uidance from IITians and corporate experts for coding, interviews, and career growth.</a:t>
              </a:r>
            </a:p>
          </p:txBody>
        </p:sp>
        <p:sp>
          <p:nvSpPr>
            <p:cNvPr id="16" name="TextBox 16"/>
            <p:cNvSpPr txBox="1"/>
            <p:nvPr/>
          </p:nvSpPr>
          <p:spPr>
            <a:xfrm>
              <a:off x="0" y="-28575"/>
              <a:ext cx="2479240" cy="853228"/>
            </a:xfrm>
            <a:prstGeom prst="rect">
              <a:avLst/>
            </a:prstGeom>
          </p:spPr>
          <p:txBody>
            <a:bodyPr lIns="0" tIns="0" rIns="0" bIns="0" rtlCol="0" anchor="t">
              <a:spAutoFit/>
            </a:bodyPr>
            <a:lstStyle/>
            <a:p>
              <a:pPr algn="l">
                <a:lnSpc>
                  <a:spcPts val="2660"/>
                </a:lnSpc>
              </a:pPr>
              <a:r>
                <a:rPr lang="en-US" sz="1900" b="1">
                  <a:solidFill>
                    <a:srgbClr val="FFDE59"/>
                  </a:solidFill>
                  <a:latin typeface="TT Norms Bold"/>
                  <a:ea typeface="TT Norms Bold"/>
                  <a:cs typeface="TT Norms Bold"/>
                  <a:sym typeface="TT Norms Bold"/>
                </a:rPr>
                <a:t>1-on-1 Mentorship</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028700" y="2725277"/>
            <a:ext cx="13544013" cy="3353422"/>
          </a:xfrm>
          <a:prstGeom prst="rect">
            <a:avLst/>
          </a:prstGeom>
        </p:spPr>
        <p:txBody>
          <a:bodyPr lIns="0" tIns="0" rIns="0" bIns="0" rtlCol="0" anchor="t">
            <a:spAutoFit/>
          </a:bodyPr>
          <a:lstStyle/>
          <a:p>
            <a:pPr algn="l">
              <a:lnSpc>
                <a:spcPts val="12648"/>
              </a:lnSpc>
            </a:pPr>
            <a:r>
              <a:rPr lang="en-US" sz="14212" b="1" spc="-625">
                <a:solidFill>
                  <a:srgbClr val="E4E2DD"/>
                </a:solidFill>
                <a:latin typeface="Aileron Bold"/>
                <a:ea typeface="Aileron Bold"/>
                <a:cs typeface="Aileron Bold"/>
                <a:sym typeface="Aileron Bold"/>
              </a:rPr>
              <a:t>TPO’s</a:t>
            </a:r>
          </a:p>
          <a:p>
            <a:pPr algn="l">
              <a:lnSpc>
                <a:spcPts val="12648"/>
              </a:lnSpc>
            </a:pPr>
            <a:r>
              <a:rPr lang="en-US" sz="14212" b="1" spc="-625">
                <a:solidFill>
                  <a:srgbClr val="E4E2DD"/>
                </a:solidFill>
                <a:latin typeface="Aileron Bold"/>
                <a:ea typeface="Aileron Bold"/>
                <a:cs typeface="Aileron Bold"/>
                <a:sym typeface="Aileron Bold"/>
              </a:rPr>
              <a:t>Dashboard</a:t>
            </a:r>
          </a:p>
        </p:txBody>
      </p:sp>
      <p:sp>
        <p:nvSpPr>
          <p:cNvPr id="3" name="TextBox 3"/>
          <p:cNvSpPr txBox="1"/>
          <p:nvPr/>
        </p:nvSpPr>
        <p:spPr>
          <a:xfrm>
            <a:off x="1028700" y="8664843"/>
            <a:ext cx="2652419" cy="266700"/>
          </a:xfrm>
          <a:prstGeom prst="rect">
            <a:avLst/>
          </a:prstGeom>
        </p:spPr>
        <p:txBody>
          <a:bodyPr lIns="0" tIns="0" rIns="0" bIns="0" rtlCol="0" anchor="t">
            <a:spAutoFit/>
          </a:bodyPr>
          <a:lstStyle/>
          <a:p>
            <a:pPr algn="l">
              <a:lnSpc>
                <a:spcPts val="2160"/>
              </a:lnSpc>
            </a:pPr>
            <a:r>
              <a:rPr lang="en-US" sz="1800">
                <a:solidFill>
                  <a:srgbClr val="E4E2DD"/>
                </a:solidFill>
                <a:latin typeface="Montserrat"/>
                <a:ea typeface="Montserrat"/>
                <a:cs typeface="Montserrat"/>
                <a:sym typeface="Montserrat"/>
              </a:rPr>
              <a:t>Name of Project:</a:t>
            </a:r>
          </a:p>
        </p:txBody>
      </p:sp>
      <p:sp>
        <p:nvSpPr>
          <p:cNvPr id="4" name="TextBox 4"/>
          <p:cNvSpPr txBox="1"/>
          <p:nvPr/>
        </p:nvSpPr>
        <p:spPr>
          <a:xfrm>
            <a:off x="4167784" y="8664843"/>
            <a:ext cx="2652419" cy="266700"/>
          </a:xfrm>
          <a:prstGeom prst="rect">
            <a:avLst/>
          </a:prstGeom>
        </p:spPr>
        <p:txBody>
          <a:bodyPr lIns="0" tIns="0" rIns="0" bIns="0" rtlCol="0" anchor="t">
            <a:spAutoFit/>
          </a:bodyPr>
          <a:lstStyle/>
          <a:p>
            <a:pPr algn="l">
              <a:lnSpc>
                <a:spcPts val="2160"/>
              </a:lnSpc>
            </a:pPr>
            <a:r>
              <a:rPr lang="en-US" sz="1800">
                <a:solidFill>
                  <a:srgbClr val="E4E2DD"/>
                </a:solidFill>
                <a:latin typeface="Montserrat"/>
                <a:ea typeface="Montserrat"/>
                <a:cs typeface="Montserrat"/>
                <a:sym typeface="Montserrat"/>
              </a:rPr>
              <a:t>Presented By:</a:t>
            </a:r>
          </a:p>
        </p:txBody>
      </p:sp>
      <p:sp>
        <p:nvSpPr>
          <p:cNvPr id="5" name="TextBox 5"/>
          <p:cNvSpPr txBox="1"/>
          <p:nvPr/>
        </p:nvSpPr>
        <p:spPr>
          <a:xfrm>
            <a:off x="1028700" y="8944775"/>
            <a:ext cx="2652419" cy="314325"/>
          </a:xfrm>
          <a:prstGeom prst="rect">
            <a:avLst/>
          </a:prstGeom>
        </p:spPr>
        <p:txBody>
          <a:bodyPr lIns="0" tIns="0" rIns="0" bIns="0" rtlCol="0" anchor="t">
            <a:spAutoFit/>
          </a:bodyPr>
          <a:lstStyle/>
          <a:p>
            <a:pPr algn="l">
              <a:lnSpc>
                <a:spcPts val="2520"/>
              </a:lnSpc>
            </a:pPr>
            <a:r>
              <a:rPr lang="en-US" sz="2100" b="1">
                <a:solidFill>
                  <a:srgbClr val="E4E2DD"/>
                </a:solidFill>
                <a:latin typeface="Montserrat Bold"/>
                <a:ea typeface="Montserrat Bold"/>
                <a:cs typeface="Montserrat Bold"/>
                <a:sym typeface="Montserrat Bold"/>
              </a:rPr>
              <a:t>Kode Craft</a:t>
            </a:r>
          </a:p>
        </p:txBody>
      </p:sp>
      <p:sp>
        <p:nvSpPr>
          <p:cNvPr id="6" name="TextBox 6"/>
          <p:cNvSpPr txBox="1"/>
          <p:nvPr/>
        </p:nvSpPr>
        <p:spPr>
          <a:xfrm>
            <a:off x="4167784" y="8944775"/>
            <a:ext cx="2652419" cy="628650"/>
          </a:xfrm>
          <a:prstGeom prst="rect">
            <a:avLst/>
          </a:prstGeom>
        </p:spPr>
        <p:txBody>
          <a:bodyPr lIns="0" tIns="0" rIns="0" bIns="0" rtlCol="0" anchor="t">
            <a:spAutoFit/>
          </a:bodyPr>
          <a:lstStyle/>
          <a:p>
            <a:pPr algn="l">
              <a:lnSpc>
                <a:spcPts val="2520"/>
              </a:lnSpc>
            </a:pPr>
            <a:r>
              <a:rPr lang="en-US" sz="2100" b="1" spc="-42">
                <a:solidFill>
                  <a:srgbClr val="E4E2DD"/>
                </a:solidFill>
                <a:latin typeface="Montserrat Bold"/>
                <a:ea typeface="Montserrat Bold"/>
                <a:cs typeface="Montserrat Bold"/>
                <a:sym typeface="Montserrat Bold"/>
              </a:rPr>
              <a:t>Parth Goel &amp;</a:t>
            </a:r>
          </a:p>
          <a:p>
            <a:pPr algn="l">
              <a:lnSpc>
                <a:spcPts val="2520"/>
              </a:lnSpc>
            </a:pPr>
            <a:r>
              <a:rPr lang="en-US" sz="2100" b="1" spc="-42">
                <a:solidFill>
                  <a:srgbClr val="E4E2DD"/>
                </a:solidFill>
                <a:latin typeface="Montserrat Bold"/>
                <a:ea typeface="Montserrat Bold"/>
                <a:cs typeface="Montserrat Bold"/>
                <a:sym typeface="Montserrat Bold"/>
              </a:rPr>
              <a:t>Naman Sharma</a:t>
            </a:r>
          </a:p>
        </p:txBody>
      </p:sp>
      <p:sp>
        <p:nvSpPr>
          <p:cNvPr id="7" name="TextBox 7"/>
          <p:cNvSpPr txBox="1"/>
          <p:nvPr/>
        </p:nvSpPr>
        <p:spPr>
          <a:xfrm>
            <a:off x="7306869" y="8664843"/>
            <a:ext cx="2652419" cy="266700"/>
          </a:xfrm>
          <a:prstGeom prst="rect">
            <a:avLst/>
          </a:prstGeom>
        </p:spPr>
        <p:txBody>
          <a:bodyPr lIns="0" tIns="0" rIns="0" bIns="0" rtlCol="0" anchor="t">
            <a:spAutoFit/>
          </a:bodyPr>
          <a:lstStyle/>
          <a:p>
            <a:pPr algn="l">
              <a:lnSpc>
                <a:spcPts val="2160"/>
              </a:lnSpc>
            </a:pPr>
            <a:r>
              <a:rPr lang="en-US" sz="1800">
                <a:solidFill>
                  <a:srgbClr val="E4E2DD"/>
                </a:solidFill>
                <a:latin typeface="Montserrat"/>
                <a:ea typeface="Montserrat"/>
                <a:cs typeface="Montserrat"/>
                <a:sym typeface="Montserrat"/>
              </a:rPr>
              <a:t>Presented To:</a:t>
            </a:r>
          </a:p>
        </p:txBody>
      </p:sp>
      <p:sp>
        <p:nvSpPr>
          <p:cNvPr id="8" name="TextBox 8"/>
          <p:cNvSpPr txBox="1"/>
          <p:nvPr/>
        </p:nvSpPr>
        <p:spPr>
          <a:xfrm>
            <a:off x="7306869" y="8944775"/>
            <a:ext cx="2652419" cy="314325"/>
          </a:xfrm>
          <a:prstGeom prst="rect">
            <a:avLst/>
          </a:prstGeom>
        </p:spPr>
        <p:txBody>
          <a:bodyPr lIns="0" tIns="0" rIns="0" bIns="0" rtlCol="0" anchor="t">
            <a:spAutoFit/>
          </a:bodyPr>
          <a:lstStyle/>
          <a:p>
            <a:pPr algn="l">
              <a:lnSpc>
                <a:spcPts val="2520"/>
              </a:lnSpc>
            </a:pPr>
            <a:r>
              <a:rPr lang="en-US" sz="2100" b="1" spc="-42">
                <a:solidFill>
                  <a:srgbClr val="E4E2DD"/>
                </a:solidFill>
                <a:latin typeface="Montserrat Bold"/>
                <a:ea typeface="Montserrat Bold"/>
                <a:cs typeface="Montserrat Bold"/>
                <a:sym typeface="Montserrat Bold"/>
              </a:rPr>
              <a:t>Ozibook Solutions</a:t>
            </a:r>
          </a:p>
        </p:txBody>
      </p:sp>
      <p:sp>
        <p:nvSpPr>
          <p:cNvPr id="9" name="TextBox 9"/>
          <p:cNvSpPr txBox="1"/>
          <p:nvPr/>
        </p:nvSpPr>
        <p:spPr>
          <a:xfrm>
            <a:off x="10241315" y="6078699"/>
            <a:ext cx="7017985" cy="1885950"/>
          </a:xfrm>
          <a:prstGeom prst="rect">
            <a:avLst/>
          </a:prstGeom>
        </p:spPr>
        <p:txBody>
          <a:bodyPr lIns="0" tIns="0" rIns="0" bIns="0" rtlCol="0" anchor="t">
            <a:spAutoFit/>
          </a:bodyPr>
          <a:lstStyle/>
          <a:p>
            <a:pPr algn="just">
              <a:lnSpc>
                <a:spcPts val="2520"/>
              </a:lnSpc>
            </a:pPr>
            <a:r>
              <a:rPr lang="en-US" sz="2100" spc="-42">
                <a:solidFill>
                  <a:srgbClr val="E4E2DD"/>
                </a:solidFill>
                <a:latin typeface="Montserrat"/>
                <a:ea typeface="Montserrat"/>
                <a:cs typeface="Montserrat"/>
                <a:sym typeface="Montserrat"/>
              </a:rPr>
              <a:t>A centralized dashboard for Training &amp; Placement Officers to manage placement activities efficiently. The panel allows TPOs to add new job opportunities, set eligibility criteria, track student engagement, monitor approvals, and manage coordination groups in real time.</a:t>
            </a:r>
          </a:p>
        </p:txBody>
      </p:sp>
      <p:sp>
        <p:nvSpPr>
          <p:cNvPr id="10" name="Freeform 10"/>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2"/>
            <a:stretch>
              <a:fillRect l="-16732" t="-87648" r="-14033" b="-113366"/>
            </a:stretch>
          </a:blipFill>
        </p:spPr>
      </p:sp>
      <p:sp>
        <p:nvSpPr>
          <p:cNvPr id="11" name="TextBox 11"/>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7149473" y="1860733"/>
            <a:ext cx="10830401" cy="7589504"/>
          </a:xfrm>
          <a:prstGeom prst="rect">
            <a:avLst/>
          </a:prstGeom>
        </p:spPr>
      </p:pic>
      <p:sp>
        <p:nvSpPr>
          <p:cNvPr id="3" name="Freeform 3"/>
          <p:cNvSpPr/>
          <p:nvPr/>
        </p:nvSpPr>
        <p:spPr>
          <a:xfrm>
            <a:off x="693231" y="785096"/>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3"/>
            <a:stretch>
              <a:fillRect l="-16732" t="-87648" r="-14033" b="-113366"/>
            </a:stretch>
          </a:blipFill>
        </p:spPr>
      </p:sp>
      <p:sp>
        <p:nvSpPr>
          <p:cNvPr id="4" name="TextBox 4"/>
          <p:cNvSpPr txBox="1"/>
          <p:nvPr/>
        </p:nvSpPr>
        <p:spPr>
          <a:xfrm>
            <a:off x="1380810" y="1847113"/>
            <a:ext cx="6427936" cy="2573919"/>
          </a:xfrm>
          <a:prstGeom prst="rect">
            <a:avLst/>
          </a:prstGeom>
        </p:spPr>
        <p:txBody>
          <a:bodyPr lIns="0" tIns="0" rIns="0" bIns="0" rtlCol="0" anchor="t">
            <a:spAutoFit/>
          </a:bodyPr>
          <a:lstStyle/>
          <a:p>
            <a:pPr algn="l">
              <a:lnSpc>
                <a:spcPts val="6562"/>
              </a:lnSpc>
            </a:pPr>
            <a:r>
              <a:rPr lang="en-US" sz="7373" b="1" spc="-324">
                <a:solidFill>
                  <a:srgbClr val="E4E2DD"/>
                </a:solidFill>
                <a:latin typeface="Aileron Bold"/>
                <a:ea typeface="Aileron Bold"/>
                <a:cs typeface="Aileron Bold"/>
                <a:sym typeface="Aileron Bold"/>
              </a:rPr>
              <a:t>Glimpses of Our TPO’s Dashboard</a:t>
            </a:r>
          </a:p>
        </p:txBody>
      </p:sp>
      <p:sp>
        <p:nvSpPr>
          <p:cNvPr id="5" name="TextBox 5"/>
          <p:cNvSpPr txBox="1"/>
          <p:nvPr/>
        </p:nvSpPr>
        <p:spPr>
          <a:xfrm>
            <a:off x="1380810" y="5731606"/>
            <a:ext cx="6131219" cy="1912892"/>
          </a:xfrm>
          <a:prstGeom prst="rect">
            <a:avLst/>
          </a:prstGeom>
        </p:spPr>
        <p:txBody>
          <a:bodyPr lIns="0" tIns="0" rIns="0" bIns="0" rtlCol="0" anchor="t">
            <a:spAutoFit/>
          </a:bodyPr>
          <a:lstStyle/>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Add New Opportunities</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Manage Student Applications</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Track Placement Activities</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Monitor Engagement &amp; Approvals</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Coordinate Recruitment Drives</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Generate Placement Reports</a:t>
            </a:r>
          </a:p>
          <a:p>
            <a:pPr algn="l">
              <a:lnSpc>
                <a:spcPts val="2190"/>
              </a:lnSpc>
            </a:pPr>
            <a:endParaRPr lang="en-US" sz="1825" spc="-36">
              <a:solidFill>
                <a:srgbClr val="E4E2DD"/>
              </a:solidFill>
              <a:latin typeface="Montserrat"/>
              <a:ea typeface="Montserrat"/>
              <a:cs typeface="Montserrat"/>
              <a:sym typeface="Montserrat"/>
            </a:endParaRPr>
          </a:p>
        </p:txBody>
      </p:sp>
      <p:sp>
        <p:nvSpPr>
          <p:cNvPr id="6" name="TextBox 6"/>
          <p:cNvSpPr txBox="1"/>
          <p:nvPr/>
        </p:nvSpPr>
        <p:spPr>
          <a:xfrm>
            <a:off x="15523263" y="923868"/>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
        <p:nvSpPr>
          <p:cNvPr id="7" name="TextBox 7"/>
          <p:cNvSpPr txBox="1"/>
          <p:nvPr/>
        </p:nvSpPr>
        <p:spPr>
          <a:xfrm>
            <a:off x="1382778" y="5238750"/>
            <a:ext cx="7316979" cy="417342"/>
          </a:xfrm>
          <a:prstGeom prst="rect">
            <a:avLst/>
          </a:prstGeom>
        </p:spPr>
        <p:txBody>
          <a:bodyPr lIns="0" tIns="0" rIns="0" bIns="0" rtlCol="0" anchor="t">
            <a:spAutoFit/>
          </a:bodyPr>
          <a:lstStyle/>
          <a:p>
            <a:pPr algn="l">
              <a:lnSpc>
                <a:spcPts val="3051"/>
              </a:lnSpc>
            </a:pPr>
            <a:r>
              <a:rPr lang="en-US" sz="3428" b="1" spc="-150">
                <a:solidFill>
                  <a:srgbClr val="E4E2DD"/>
                </a:solidFill>
                <a:latin typeface="Aileron Bold"/>
                <a:ea typeface="Aileron Bold"/>
                <a:cs typeface="Aileron Bold"/>
                <a:sym typeface="Aileron Bold"/>
              </a:rPr>
              <a:t>Features</a:t>
            </a:r>
          </a:p>
        </p:txBody>
      </p:sp>
      <p:sp>
        <p:nvSpPr>
          <p:cNvPr id="8" name="TextBox 8"/>
          <p:cNvSpPr txBox="1"/>
          <p:nvPr/>
        </p:nvSpPr>
        <p:spPr>
          <a:xfrm>
            <a:off x="1380810" y="7636120"/>
            <a:ext cx="7316979" cy="417342"/>
          </a:xfrm>
          <a:prstGeom prst="rect">
            <a:avLst/>
          </a:prstGeom>
        </p:spPr>
        <p:txBody>
          <a:bodyPr lIns="0" tIns="0" rIns="0" bIns="0" rtlCol="0" anchor="t">
            <a:spAutoFit/>
          </a:bodyPr>
          <a:lstStyle/>
          <a:p>
            <a:pPr algn="l">
              <a:lnSpc>
                <a:spcPts val="3051"/>
              </a:lnSpc>
            </a:pPr>
            <a:r>
              <a:rPr lang="en-US" sz="3428" b="1" spc="-150">
                <a:solidFill>
                  <a:srgbClr val="E4E2DD"/>
                </a:solidFill>
                <a:latin typeface="Aileron Bold"/>
                <a:ea typeface="Aileron Bold"/>
                <a:cs typeface="Aileron Bold"/>
                <a:sym typeface="Aileron Bold"/>
              </a:rPr>
              <a:t>Benefits</a:t>
            </a:r>
          </a:p>
        </p:txBody>
      </p:sp>
      <p:sp>
        <p:nvSpPr>
          <p:cNvPr id="9" name="TextBox 9"/>
          <p:cNvSpPr txBox="1"/>
          <p:nvPr/>
        </p:nvSpPr>
        <p:spPr>
          <a:xfrm>
            <a:off x="1380810" y="8196338"/>
            <a:ext cx="6131219" cy="1366351"/>
          </a:xfrm>
          <a:prstGeom prst="rect">
            <a:avLst/>
          </a:prstGeom>
        </p:spPr>
        <p:txBody>
          <a:bodyPr lIns="0" tIns="0" rIns="0" bIns="0" rtlCol="0" anchor="t">
            <a:spAutoFit/>
          </a:bodyPr>
          <a:lstStyle/>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Faster Placement Management</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Centralized Recruitment Process</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Improved Student Coordination</a:t>
            </a:r>
          </a:p>
          <a:p>
            <a:pPr marL="394167" lvl="1" indent="-197083" algn="l">
              <a:lnSpc>
                <a:spcPts val="2190"/>
              </a:lnSpc>
              <a:buFont typeface="Arial"/>
              <a:buChar char="•"/>
            </a:pPr>
            <a:r>
              <a:rPr lang="en-US" sz="1825" spc="-36">
                <a:solidFill>
                  <a:srgbClr val="E4E2DD"/>
                </a:solidFill>
                <a:latin typeface="Montserrat"/>
                <a:ea typeface="Montserrat"/>
                <a:cs typeface="Montserrat"/>
                <a:sym typeface="Montserrat"/>
              </a:rPr>
              <a:t>Real-Time Analytics &amp; Tracking</a:t>
            </a:r>
          </a:p>
          <a:p>
            <a:pPr algn="l">
              <a:lnSpc>
                <a:spcPts val="2190"/>
              </a:lnSpc>
            </a:pPr>
            <a:endParaRPr lang="en-US" sz="1825" spc="-36">
              <a:solidFill>
                <a:srgbClr val="E4E2DD"/>
              </a:solidFill>
              <a:latin typeface="Montserrat"/>
              <a:ea typeface="Montserrat"/>
              <a:cs typeface="Montserrat"/>
              <a:sym typeface="Montserrat"/>
            </a:endParaRPr>
          </a:p>
        </p:txBody>
      </p:sp>
      <p:sp>
        <p:nvSpPr>
          <p:cNvPr id="10" name="TextBox 10"/>
          <p:cNvSpPr txBox="1"/>
          <p:nvPr/>
        </p:nvSpPr>
        <p:spPr>
          <a:xfrm>
            <a:off x="1028700" y="4640107"/>
            <a:ext cx="5550081" cy="465293"/>
          </a:xfrm>
          <a:prstGeom prst="rect">
            <a:avLst/>
          </a:prstGeom>
        </p:spPr>
        <p:txBody>
          <a:bodyPr lIns="0" tIns="0" rIns="0" bIns="0" rtlCol="0" anchor="t">
            <a:spAutoFit/>
          </a:bodyPr>
          <a:lstStyle/>
          <a:p>
            <a:pPr algn="ctr">
              <a:lnSpc>
                <a:spcPts val="3730"/>
              </a:lnSpc>
              <a:spcBef>
                <a:spcPct val="0"/>
              </a:spcBef>
            </a:pPr>
            <a:r>
              <a:rPr lang="en-US" sz="3108" b="1" spc="-62">
                <a:solidFill>
                  <a:srgbClr val="E4E2DD"/>
                </a:solidFill>
                <a:latin typeface="Montserrat Bold"/>
                <a:ea typeface="Montserrat Bold"/>
                <a:cs typeface="Montserrat Bold"/>
                <a:sym typeface="Montserrat Bold"/>
              </a:rPr>
              <a:t>1. TPO Dashboard Panel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2"/>
            <a:stretch>
              <a:fillRect l="-16732" t="-87648" r="-14033" b="-113366"/>
            </a:stretch>
          </a:blipFill>
        </p:spPr>
      </p:sp>
      <p:sp>
        <p:nvSpPr>
          <p:cNvPr id="3" name="TextBox 3"/>
          <p:cNvSpPr txBox="1"/>
          <p:nvPr/>
        </p:nvSpPr>
        <p:spPr>
          <a:xfrm>
            <a:off x="9089878" y="2220007"/>
            <a:ext cx="7094149" cy="1895097"/>
          </a:xfrm>
          <a:prstGeom prst="rect">
            <a:avLst/>
          </a:prstGeom>
        </p:spPr>
        <p:txBody>
          <a:bodyPr lIns="0" tIns="0" rIns="0" bIns="0" rtlCol="0" anchor="t">
            <a:spAutoFit/>
          </a:bodyPr>
          <a:lstStyle/>
          <a:p>
            <a:pPr algn="l">
              <a:lnSpc>
                <a:spcPts val="7170"/>
              </a:lnSpc>
            </a:pPr>
            <a:r>
              <a:rPr lang="en-US" sz="8056" b="1" spc="-354">
                <a:solidFill>
                  <a:srgbClr val="E4E2DD"/>
                </a:solidFill>
                <a:latin typeface="Aileron Bold"/>
                <a:ea typeface="Aileron Bold"/>
                <a:cs typeface="Aileron Bold"/>
                <a:sym typeface="Aileron Bold"/>
              </a:rPr>
              <a:t>Glimpses of Our Dashboard</a:t>
            </a:r>
          </a:p>
        </p:txBody>
      </p:sp>
      <p:sp>
        <p:nvSpPr>
          <p:cNvPr id="4" name="TextBox 4"/>
          <p:cNvSpPr txBox="1"/>
          <p:nvPr/>
        </p:nvSpPr>
        <p:spPr>
          <a:xfrm>
            <a:off x="9089878" y="5313789"/>
            <a:ext cx="6755947" cy="1885950"/>
          </a:xfrm>
          <a:prstGeom prst="rect">
            <a:avLst/>
          </a:prstGeom>
        </p:spPr>
        <p:txBody>
          <a:bodyPr lIns="0" tIns="0" rIns="0" bIns="0" rtlCol="0" anchor="t">
            <a:spAutoFit/>
          </a:bodyPr>
          <a:lstStyle/>
          <a:p>
            <a:pPr algn="just">
              <a:lnSpc>
                <a:spcPts val="2520"/>
              </a:lnSpc>
            </a:pPr>
            <a:r>
              <a:rPr lang="en-US" sz="2100" spc="-42">
                <a:solidFill>
                  <a:srgbClr val="E4E2DD"/>
                </a:solidFill>
                <a:latin typeface="Montserrat"/>
                <a:ea typeface="Montserrat"/>
                <a:cs typeface="Montserrat"/>
                <a:sym typeface="Montserrat"/>
              </a:rPr>
              <a:t>This panel enables Training &amp; Placement Officers to manage and monitor all placement opportunities from a centralized dashboard. TPOs can track applications, manage hiring status, filter on-campus and off-campus drives, and oversee recruitment activities efficiently.</a:t>
            </a:r>
          </a:p>
        </p:txBody>
      </p:sp>
      <p:sp>
        <p:nvSpPr>
          <p:cNvPr id="5" name="TextBox 5"/>
          <p:cNvSpPr txBox="1"/>
          <p:nvPr/>
        </p:nvSpPr>
        <p:spPr>
          <a:xfrm>
            <a:off x="9144000" y="4407916"/>
            <a:ext cx="5153833" cy="735584"/>
          </a:xfrm>
          <a:prstGeom prst="rect">
            <a:avLst/>
          </a:prstGeom>
        </p:spPr>
        <p:txBody>
          <a:bodyPr lIns="0" tIns="0" rIns="0" bIns="0" rtlCol="0" anchor="t">
            <a:spAutoFit/>
          </a:bodyPr>
          <a:lstStyle/>
          <a:p>
            <a:pPr algn="l">
              <a:lnSpc>
                <a:spcPts val="2848"/>
              </a:lnSpc>
            </a:pPr>
            <a:r>
              <a:rPr lang="en-US" sz="3200" b="1" spc="-140">
                <a:solidFill>
                  <a:srgbClr val="E4E2DD"/>
                </a:solidFill>
                <a:latin typeface="Aileron Bold"/>
                <a:ea typeface="Aileron Bold"/>
                <a:cs typeface="Aileron Bold"/>
                <a:sym typeface="Aileron Bold"/>
              </a:rPr>
              <a:t>2. Opportunity Management Panel</a:t>
            </a:r>
          </a:p>
        </p:txBody>
      </p:sp>
      <p:pic>
        <p:nvPicPr>
          <p:cNvPr id="6" name="Picture 6"/>
          <p:cNvPicPr>
            <a:picLocks noChangeAspect="1"/>
          </p:cNvPicPr>
          <p:nvPr/>
        </p:nvPicPr>
        <p:blipFill>
          <a:blip r:embed="rId3"/>
          <a:stretch>
            <a:fillRect/>
          </a:stretch>
        </p:blipFill>
        <p:spPr>
          <a:xfrm>
            <a:off x="-1203230" y="1423349"/>
            <a:ext cx="14438758" cy="9038181"/>
          </a:xfrm>
          <a:prstGeom prst="rect">
            <a:avLst/>
          </a:prstGeom>
        </p:spPr>
      </p:pic>
      <p:sp>
        <p:nvSpPr>
          <p:cNvPr id="7" name="TextBox 7"/>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
        <p:nvSpPr>
          <p:cNvPr id="8" name="TextBox 8"/>
          <p:cNvSpPr txBox="1"/>
          <p:nvPr/>
        </p:nvSpPr>
        <p:spPr>
          <a:xfrm>
            <a:off x="12105467" y="7466439"/>
            <a:ext cx="5153833" cy="383159"/>
          </a:xfrm>
          <a:prstGeom prst="rect">
            <a:avLst/>
          </a:prstGeom>
        </p:spPr>
        <p:txBody>
          <a:bodyPr lIns="0" tIns="0" rIns="0" bIns="0" rtlCol="0" anchor="t">
            <a:spAutoFit/>
          </a:bodyPr>
          <a:lstStyle/>
          <a:p>
            <a:pPr algn="l">
              <a:lnSpc>
                <a:spcPts val="2848"/>
              </a:lnSpc>
            </a:pPr>
            <a:r>
              <a:rPr lang="en-US" sz="3200" b="1" spc="-140">
                <a:solidFill>
                  <a:srgbClr val="E4E2DD"/>
                </a:solidFill>
                <a:latin typeface="Aileron Bold"/>
                <a:ea typeface="Aileron Bold"/>
                <a:cs typeface="Aileron Bold"/>
                <a:sym typeface="Aileron Bold"/>
              </a:rPr>
              <a:t>Features</a:t>
            </a:r>
          </a:p>
        </p:txBody>
      </p:sp>
      <p:sp>
        <p:nvSpPr>
          <p:cNvPr id="9" name="TextBox 9"/>
          <p:cNvSpPr txBox="1"/>
          <p:nvPr/>
        </p:nvSpPr>
        <p:spPr>
          <a:xfrm>
            <a:off x="12032298" y="8021048"/>
            <a:ext cx="6755947" cy="1885950"/>
          </a:xfrm>
          <a:prstGeom prst="rect">
            <a:avLst/>
          </a:prstGeom>
        </p:spPr>
        <p:txBody>
          <a:bodyPr lIns="0" tIns="0" rIns="0" bIns="0" rtlCol="0" anchor="t">
            <a:spAutoFit/>
          </a:bodyPr>
          <a:lstStyle/>
          <a:p>
            <a:pPr marL="453390" lvl="1" indent="-226695" algn="just">
              <a:lnSpc>
                <a:spcPts val="2520"/>
              </a:lnSpc>
              <a:buFont typeface="Arial"/>
              <a:buChar char="•"/>
            </a:pPr>
            <a:r>
              <a:rPr lang="en-US" sz="2100" spc="-42">
                <a:solidFill>
                  <a:srgbClr val="E4E2DD"/>
                </a:solidFill>
                <a:latin typeface="Montserrat"/>
                <a:ea typeface="Montserrat"/>
                <a:cs typeface="Montserrat"/>
                <a:sym typeface="Montserrat"/>
              </a:rPr>
              <a:t>Manage Job Opportunities</a:t>
            </a:r>
          </a:p>
          <a:p>
            <a:pPr marL="453390" lvl="1" indent="-226695" algn="just">
              <a:lnSpc>
                <a:spcPts val="2520"/>
              </a:lnSpc>
              <a:buFont typeface="Arial"/>
              <a:buChar char="•"/>
            </a:pPr>
            <a:r>
              <a:rPr lang="en-US" sz="2100" spc="-42">
                <a:solidFill>
                  <a:srgbClr val="E4E2DD"/>
                </a:solidFill>
                <a:latin typeface="Montserrat"/>
                <a:ea typeface="Montserrat"/>
                <a:cs typeface="Montserrat"/>
                <a:sym typeface="Montserrat"/>
              </a:rPr>
              <a:t>Track Student Applications</a:t>
            </a:r>
          </a:p>
          <a:p>
            <a:pPr marL="453390" lvl="1" indent="-226695" algn="just">
              <a:lnSpc>
                <a:spcPts val="2520"/>
              </a:lnSpc>
              <a:buFont typeface="Arial"/>
              <a:buChar char="•"/>
            </a:pPr>
            <a:r>
              <a:rPr lang="en-US" sz="2100" spc="-42">
                <a:solidFill>
                  <a:srgbClr val="E4E2DD"/>
                </a:solidFill>
                <a:latin typeface="Montserrat"/>
                <a:ea typeface="Montserrat"/>
                <a:cs typeface="Montserrat"/>
                <a:sym typeface="Montserrat"/>
              </a:rPr>
              <a:t>Monitor Hiring Status</a:t>
            </a:r>
          </a:p>
          <a:p>
            <a:pPr marL="453390" lvl="1" indent="-226695" algn="just">
              <a:lnSpc>
                <a:spcPts val="2520"/>
              </a:lnSpc>
              <a:buFont typeface="Arial"/>
              <a:buChar char="•"/>
            </a:pPr>
            <a:r>
              <a:rPr lang="en-US" sz="2100" spc="-42">
                <a:solidFill>
                  <a:srgbClr val="E4E2DD"/>
                </a:solidFill>
                <a:latin typeface="Montserrat"/>
                <a:ea typeface="Montserrat"/>
                <a:cs typeface="Montserrat"/>
                <a:sym typeface="Montserrat"/>
              </a:rPr>
              <a:t>Filter On-Campus &amp; Off-Campus Drives</a:t>
            </a:r>
          </a:p>
          <a:p>
            <a:pPr marL="453390" lvl="1" indent="-226695" algn="just">
              <a:lnSpc>
                <a:spcPts val="2520"/>
              </a:lnSpc>
              <a:buFont typeface="Arial"/>
              <a:buChar char="•"/>
            </a:pPr>
            <a:r>
              <a:rPr lang="en-US" sz="2100" spc="-42">
                <a:solidFill>
                  <a:srgbClr val="E4E2DD"/>
                </a:solidFill>
                <a:latin typeface="Montserrat"/>
                <a:ea typeface="Montserrat"/>
                <a:cs typeface="Montserrat"/>
                <a:sym typeface="Montserrat"/>
              </a:rPr>
              <a:t>Edit, View &amp; Delete Postings</a:t>
            </a:r>
          </a:p>
          <a:p>
            <a:pPr algn="just">
              <a:lnSpc>
                <a:spcPts val="2520"/>
              </a:lnSpc>
            </a:pPr>
            <a:endParaRPr lang="en-US" sz="2100" spc="-42">
              <a:solidFill>
                <a:srgbClr val="E4E2DD"/>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839109" y="1317676"/>
            <a:ext cx="11960220" cy="8381235"/>
          </a:xfrm>
          <a:prstGeom prst="rect">
            <a:avLst/>
          </a:prstGeom>
        </p:spPr>
      </p:pic>
      <p:sp>
        <p:nvSpPr>
          <p:cNvPr id="3" name="Freeform 3"/>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3"/>
            <a:stretch>
              <a:fillRect l="-16732" t="-87648" r="-14033" b="-113366"/>
            </a:stretch>
          </a:blipFill>
        </p:spPr>
      </p:sp>
      <p:sp>
        <p:nvSpPr>
          <p:cNvPr id="4" name="TextBox 4"/>
          <p:cNvSpPr txBox="1"/>
          <p:nvPr/>
        </p:nvSpPr>
        <p:spPr>
          <a:xfrm>
            <a:off x="9959288" y="2105458"/>
            <a:ext cx="5805282" cy="1544670"/>
          </a:xfrm>
          <a:prstGeom prst="rect">
            <a:avLst/>
          </a:prstGeom>
        </p:spPr>
        <p:txBody>
          <a:bodyPr lIns="0" tIns="0" rIns="0" bIns="0" rtlCol="0" anchor="t">
            <a:spAutoFit/>
          </a:bodyPr>
          <a:lstStyle/>
          <a:p>
            <a:pPr algn="l">
              <a:lnSpc>
                <a:spcPts val="5800"/>
              </a:lnSpc>
            </a:pPr>
            <a:r>
              <a:rPr lang="en-US" sz="6517" b="1" spc="-286">
                <a:solidFill>
                  <a:srgbClr val="E4E2DD"/>
                </a:solidFill>
                <a:latin typeface="Aileron Bold"/>
                <a:ea typeface="Aileron Bold"/>
                <a:cs typeface="Aileron Bold"/>
                <a:sym typeface="Aileron Bold"/>
              </a:rPr>
              <a:t>Glimpses of Our Dashboard</a:t>
            </a:r>
          </a:p>
        </p:txBody>
      </p:sp>
      <p:sp>
        <p:nvSpPr>
          <p:cNvPr id="5" name="TextBox 5"/>
          <p:cNvSpPr txBox="1"/>
          <p:nvPr/>
        </p:nvSpPr>
        <p:spPr>
          <a:xfrm>
            <a:off x="9959288" y="4558635"/>
            <a:ext cx="6687440" cy="873371"/>
          </a:xfrm>
          <a:prstGeom prst="rect">
            <a:avLst/>
          </a:prstGeom>
        </p:spPr>
        <p:txBody>
          <a:bodyPr lIns="0" tIns="0" rIns="0" bIns="0" rtlCol="0" anchor="t">
            <a:spAutoFit/>
          </a:bodyPr>
          <a:lstStyle/>
          <a:p>
            <a:pPr algn="just">
              <a:lnSpc>
                <a:spcPts val="2308"/>
              </a:lnSpc>
            </a:pPr>
            <a:r>
              <a:rPr lang="en-US" sz="1923" spc="-38">
                <a:solidFill>
                  <a:srgbClr val="E4E2DD"/>
                </a:solidFill>
                <a:latin typeface="Montserrat"/>
                <a:ea typeface="Montserrat"/>
                <a:cs typeface="Montserrat"/>
                <a:sym typeface="Montserrat"/>
              </a:rPr>
              <a:t>A centralized panel for Training &amp; Placement Officers to manage student records, track academic performance, and monitor placement-related activities efficiently.</a:t>
            </a:r>
          </a:p>
        </p:txBody>
      </p:sp>
      <p:sp>
        <p:nvSpPr>
          <p:cNvPr id="6" name="TextBox 6"/>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
        <p:nvSpPr>
          <p:cNvPr id="7" name="TextBox 7"/>
          <p:cNvSpPr txBox="1"/>
          <p:nvPr/>
        </p:nvSpPr>
        <p:spPr>
          <a:xfrm>
            <a:off x="9959288" y="3985790"/>
            <a:ext cx="4721355" cy="362064"/>
          </a:xfrm>
          <a:prstGeom prst="rect">
            <a:avLst/>
          </a:prstGeom>
        </p:spPr>
        <p:txBody>
          <a:bodyPr lIns="0" tIns="0" rIns="0" bIns="0" rtlCol="0" anchor="t">
            <a:spAutoFit/>
          </a:bodyPr>
          <a:lstStyle/>
          <a:p>
            <a:pPr algn="l">
              <a:lnSpc>
                <a:spcPts val="2609"/>
              </a:lnSpc>
            </a:pPr>
            <a:r>
              <a:rPr lang="en-US" sz="2931" b="1" spc="-128">
                <a:solidFill>
                  <a:srgbClr val="E4E2DD"/>
                </a:solidFill>
                <a:latin typeface="Aileron Bold"/>
                <a:ea typeface="Aileron Bold"/>
                <a:cs typeface="Aileron Bold"/>
                <a:sym typeface="Aileron Bold"/>
              </a:rPr>
              <a:t>3. Student Directory Panel</a:t>
            </a:r>
          </a:p>
        </p:txBody>
      </p:sp>
      <p:sp>
        <p:nvSpPr>
          <p:cNvPr id="8" name="TextBox 8"/>
          <p:cNvSpPr txBox="1"/>
          <p:nvPr/>
        </p:nvSpPr>
        <p:spPr>
          <a:xfrm>
            <a:off x="9959288" y="5726349"/>
            <a:ext cx="4721355" cy="362064"/>
          </a:xfrm>
          <a:prstGeom prst="rect">
            <a:avLst/>
          </a:prstGeom>
        </p:spPr>
        <p:txBody>
          <a:bodyPr lIns="0" tIns="0" rIns="0" bIns="0" rtlCol="0" anchor="t">
            <a:spAutoFit/>
          </a:bodyPr>
          <a:lstStyle/>
          <a:p>
            <a:pPr algn="l">
              <a:lnSpc>
                <a:spcPts val="2609"/>
              </a:lnSpc>
            </a:pPr>
            <a:r>
              <a:rPr lang="en-US" sz="2931" b="1" spc="-128">
                <a:solidFill>
                  <a:srgbClr val="E4E2DD"/>
                </a:solidFill>
                <a:latin typeface="Aileron Bold"/>
                <a:ea typeface="Aileron Bold"/>
                <a:cs typeface="Aileron Bold"/>
                <a:sym typeface="Aileron Bold"/>
              </a:rPr>
              <a:t>Features</a:t>
            </a:r>
          </a:p>
        </p:txBody>
      </p:sp>
      <p:sp>
        <p:nvSpPr>
          <p:cNvPr id="9" name="TextBox 9"/>
          <p:cNvSpPr txBox="1"/>
          <p:nvPr/>
        </p:nvSpPr>
        <p:spPr>
          <a:xfrm>
            <a:off x="9959288" y="6187831"/>
            <a:ext cx="6687440" cy="1737218"/>
          </a:xfrm>
          <a:prstGeom prst="rect">
            <a:avLst/>
          </a:prstGeom>
        </p:spPr>
        <p:txBody>
          <a:bodyPr lIns="0" tIns="0" rIns="0" bIns="0" rtlCol="0" anchor="t">
            <a:spAutoFit/>
          </a:bodyPr>
          <a:lstStyle/>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Search &amp; Filter Students</a:t>
            </a:r>
          </a:p>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Batch and Skill-Based Sorting</a:t>
            </a:r>
          </a:p>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CGPA Tracking</a:t>
            </a:r>
          </a:p>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Student Profile Viewing</a:t>
            </a:r>
          </a:p>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Performance Analytics</a:t>
            </a:r>
          </a:p>
          <a:p>
            <a:pPr algn="just">
              <a:lnSpc>
                <a:spcPts val="2308"/>
              </a:lnSpc>
            </a:pPr>
            <a:endParaRPr lang="en-US" sz="1923" spc="-38">
              <a:solidFill>
                <a:srgbClr val="E4E2DD"/>
              </a:solidFill>
              <a:latin typeface="Montserrat"/>
              <a:ea typeface="Montserrat"/>
              <a:cs typeface="Montserrat"/>
              <a:sym typeface="Montserrat"/>
            </a:endParaRPr>
          </a:p>
        </p:txBody>
      </p:sp>
      <p:sp>
        <p:nvSpPr>
          <p:cNvPr id="10" name="TextBox 10"/>
          <p:cNvSpPr txBox="1"/>
          <p:nvPr/>
        </p:nvSpPr>
        <p:spPr>
          <a:xfrm>
            <a:off x="10768271" y="7990547"/>
            <a:ext cx="4721355" cy="362064"/>
          </a:xfrm>
          <a:prstGeom prst="rect">
            <a:avLst/>
          </a:prstGeom>
        </p:spPr>
        <p:txBody>
          <a:bodyPr lIns="0" tIns="0" rIns="0" bIns="0" rtlCol="0" anchor="t">
            <a:spAutoFit/>
          </a:bodyPr>
          <a:lstStyle/>
          <a:p>
            <a:pPr algn="l">
              <a:lnSpc>
                <a:spcPts val="2609"/>
              </a:lnSpc>
            </a:pPr>
            <a:r>
              <a:rPr lang="en-US" sz="2931" b="1" spc="-128">
                <a:solidFill>
                  <a:srgbClr val="E4E2DD"/>
                </a:solidFill>
                <a:latin typeface="Aileron Bold"/>
                <a:ea typeface="Aileron Bold"/>
                <a:cs typeface="Aileron Bold"/>
                <a:sym typeface="Aileron Bold"/>
              </a:rPr>
              <a:t>Benefits</a:t>
            </a:r>
          </a:p>
        </p:txBody>
      </p:sp>
      <p:sp>
        <p:nvSpPr>
          <p:cNvPr id="11" name="TextBox 11"/>
          <p:cNvSpPr txBox="1"/>
          <p:nvPr/>
        </p:nvSpPr>
        <p:spPr>
          <a:xfrm>
            <a:off x="10571860" y="8423949"/>
            <a:ext cx="6687440" cy="1161320"/>
          </a:xfrm>
          <a:prstGeom prst="rect">
            <a:avLst/>
          </a:prstGeom>
        </p:spPr>
        <p:txBody>
          <a:bodyPr lIns="0" tIns="0" rIns="0" bIns="0" rtlCol="0" anchor="t">
            <a:spAutoFit/>
          </a:bodyPr>
          <a:lstStyle/>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aster Student Management</a:t>
            </a:r>
          </a:p>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Real-Time Insights</a:t>
            </a:r>
          </a:p>
          <a:p>
            <a:pPr algn="just">
              <a:lnSpc>
                <a:spcPts val="2308"/>
              </a:lnSpc>
            </a:pPr>
            <a:endParaRPr lang="en-US" sz="1923" spc="-38">
              <a:solidFill>
                <a:srgbClr val="E4E2DD"/>
              </a:solidFill>
              <a:latin typeface="Montserrat"/>
              <a:ea typeface="Montserrat"/>
              <a:cs typeface="Montserrat"/>
              <a:sym typeface="Montserrat"/>
            </a:endParaRPr>
          </a:p>
          <a:p>
            <a:pPr algn="just">
              <a:lnSpc>
                <a:spcPts val="2308"/>
              </a:lnSpc>
            </a:pPr>
            <a:endParaRPr lang="en-US" sz="1923" spc="-38">
              <a:solidFill>
                <a:srgbClr val="E4E2DD"/>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7152777" y="1571653"/>
            <a:ext cx="11960220" cy="8381235"/>
          </a:xfrm>
          <a:prstGeom prst="rect">
            <a:avLst/>
          </a:prstGeom>
        </p:spPr>
      </p:pic>
      <p:sp>
        <p:nvSpPr>
          <p:cNvPr id="3" name="Freeform 3"/>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3"/>
            <a:stretch>
              <a:fillRect l="-16732" t="-87648" r="-14033" b="-113366"/>
            </a:stretch>
          </a:blipFill>
        </p:spPr>
      </p:sp>
      <p:sp>
        <p:nvSpPr>
          <p:cNvPr id="4" name="TextBox 4"/>
          <p:cNvSpPr txBox="1"/>
          <p:nvPr/>
        </p:nvSpPr>
        <p:spPr>
          <a:xfrm>
            <a:off x="849450" y="2217579"/>
            <a:ext cx="5805282" cy="1544670"/>
          </a:xfrm>
          <a:prstGeom prst="rect">
            <a:avLst/>
          </a:prstGeom>
        </p:spPr>
        <p:txBody>
          <a:bodyPr lIns="0" tIns="0" rIns="0" bIns="0" rtlCol="0" anchor="t">
            <a:spAutoFit/>
          </a:bodyPr>
          <a:lstStyle/>
          <a:p>
            <a:pPr algn="l">
              <a:lnSpc>
                <a:spcPts val="5800"/>
              </a:lnSpc>
            </a:pPr>
            <a:r>
              <a:rPr lang="en-US" sz="6517" b="1" spc="-286">
                <a:solidFill>
                  <a:srgbClr val="E4E2DD"/>
                </a:solidFill>
                <a:latin typeface="Aileron Bold"/>
                <a:ea typeface="Aileron Bold"/>
                <a:cs typeface="Aileron Bold"/>
                <a:sym typeface="Aileron Bold"/>
              </a:rPr>
              <a:t>Glimpses of Our Dashboard</a:t>
            </a:r>
          </a:p>
        </p:txBody>
      </p:sp>
      <p:sp>
        <p:nvSpPr>
          <p:cNvPr id="5" name="TextBox 5"/>
          <p:cNvSpPr txBox="1"/>
          <p:nvPr/>
        </p:nvSpPr>
        <p:spPr>
          <a:xfrm>
            <a:off x="849450" y="4670756"/>
            <a:ext cx="7300012" cy="873371"/>
          </a:xfrm>
          <a:prstGeom prst="rect">
            <a:avLst/>
          </a:prstGeom>
        </p:spPr>
        <p:txBody>
          <a:bodyPr lIns="0" tIns="0" rIns="0" bIns="0" rtlCol="0" anchor="t">
            <a:spAutoFit/>
          </a:bodyPr>
          <a:lstStyle/>
          <a:p>
            <a:pPr algn="just">
              <a:lnSpc>
                <a:spcPts val="2308"/>
              </a:lnSpc>
            </a:pPr>
            <a:r>
              <a:rPr lang="en-US" sz="1923" spc="-38">
                <a:solidFill>
                  <a:srgbClr val="E4E2DD"/>
                </a:solidFill>
                <a:latin typeface="Montserrat"/>
                <a:ea typeface="Montserrat"/>
                <a:cs typeface="Montserrat"/>
                <a:sym typeface="Montserrat"/>
              </a:rPr>
              <a:t>A centralized communication panel for Training &amp; Placement Officers and students to coordinate placement activities, share updates, and manage group discussions efficiently.</a:t>
            </a:r>
          </a:p>
        </p:txBody>
      </p:sp>
      <p:sp>
        <p:nvSpPr>
          <p:cNvPr id="6" name="TextBox 6"/>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
        <p:nvSpPr>
          <p:cNvPr id="7" name="TextBox 7"/>
          <p:cNvSpPr txBox="1"/>
          <p:nvPr/>
        </p:nvSpPr>
        <p:spPr>
          <a:xfrm>
            <a:off x="849450" y="4097911"/>
            <a:ext cx="7300012" cy="362064"/>
          </a:xfrm>
          <a:prstGeom prst="rect">
            <a:avLst/>
          </a:prstGeom>
        </p:spPr>
        <p:txBody>
          <a:bodyPr lIns="0" tIns="0" rIns="0" bIns="0" rtlCol="0" anchor="t">
            <a:spAutoFit/>
          </a:bodyPr>
          <a:lstStyle/>
          <a:p>
            <a:pPr algn="l">
              <a:lnSpc>
                <a:spcPts val="2609"/>
              </a:lnSpc>
            </a:pPr>
            <a:r>
              <a:rPr lang="en-US" sz="2931" b="1" spc="-128">
                <a:solidFill>
                  <a:srgbClr val="E4E2DD"/>
                </a:solidFill>
                <a:latin typeface="Aileron Bold"/>
                <a:ea typeface="Aileron Bold"/>
                <a:cs typeface="Aileron Bold"/>
                <a:sym typeface="Aileron Bold"/>
              </a:rPr>
              <a:t>4. Communication &amp; Collaboration System</a:t>
            </a:r>
          </a:p>
        </p:txBody>
      </p:sp>
      <p:sp>
        <p:nvSpPr>
          <p:cNvPr id="8" name="TextBox 8"/>
          <p:cNvSpPr txBox="1"/>
          <p:nvPr/>
        </p:nvSpPr>
        <p:spPr>
          <a:xfrm>
            <a:off x="849450" y="5838470"/>
            <a:ext cx="4721355" cy="362064"/>
          </a:xfrm>
          <a:prstGeom prst="rect">
            <a:avLst/>
          </a:prstGeom>
        </p:spPr>
        <p:txBody>
          <a:bodyPr lIns="0" tIns="0" rIns="0" bIns="0" rtlCol="0" anchor="t">
            <a:spAutoFit/>
          </a:bodyPr>
          <a:lstStyle/>
          <a:p>
            <a:pPr algn="l">
              <a:lnSpc>
                <a:spcPts val="2609"/>
              </a:lnSpc>
            </a:pPr>
            <a:r>
              <a:rPr lang="en-US" sz="2931" b="1" spc="-128">
                <a:solidFill>
                  <a:srgbClr val="E4E2DD"/>
                </a:solidFill>
                <a:latin typeface="Aileron Bold"/>
                <a:ea typeface="Aileron Bold"/>
                <a:cs typeface="Aileron Bold"/>
                <a:sym typeface="Aileron Bold"/>
              </a:rPr>
              <a:t>Features</a:t>
            </a:r>
          </a:p>
        </p:txBody>
      </p:sp>
      <p:sp>
        <p:nvSpPr>
          <p:cNvPr id="9" name="TextBox 9"/>
          <p:cNvSpPr txBox="1"/>
          <p:nvPr/>
        </p:nvSpPr>
        <p:spPr>
          <a:xfrm>
            <a:off x="849450" y="6299952"/>
            <a:ext cx="6687440" cy="1449269"/>
          </a:xfrm>
          <a:prstGeom prst="rect">
            <a:avLst/>
          </a:prstGeom>
        </p:spPr>
        <p:txBody>
          <a:bodyPr lIns="0" tIns="0" rIns="0" bIns="0" rtlCol="0" anchor="t">
            <a:spAutoFit/>
          </a:bodyPr>
          <a:lstStyle/>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Real-Time Messaging</a:t>
            </a:r>
          </a:p>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Group Discussions</a:t>
            </a:r>
          </a:p>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Student &amp; TPO Coordination</a:t>
            </a:r>
          </a:p>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Instant Notifications</a:t>
            </a:r>
          </a:p>
          <a:p>
            <a:pPr algn="just">
              <a:lnSpc>
                <a:spcPts val="2308"/>
              </a:lnSpc>
            </a:pPr>
            <a:endParaRPr lang="en-US" sz="1923" spc="-38">
              <a:solidFill>
                <a:srgbClr val="E4E2DD"/>
              </a:solidFill>
              <a:latin typeface="Montserrat"/>
              <a:ea typeface="Montserrat"/>
              <a:cs typeface="Montserrat"/>
              <a:sym typeface="Montserrat"/>
            </a:endParaRPr>
          </a:p>
        </p:txBody>
      </p:sp>
      <p:sp>
        <p:nvSpPr>
          <p:cNvPr id="10" name="TextBox 10"/>
          <p:cNvSpPr txBox="1"/>
          <p:nvPr/>
        </p:nvSpPr>
        <p:spPr>
          <a:xfrm>
            <a:off x="1045861" y="8112852"/>
            <a:ext cx="4721355" cy="362064"/>
          </a:xfrm>
          <a:prstGeom prst="rect">
            <a:avLst/>
          </a:prstGeom>
        </p:spPr>
        <p:txBody>
          <a:bodyPr lIns="0" tIns="0" rIns="0" bIns="0" rtlCol="0" anchor="t">
            <a:spAutoFit/>
          </a:bodyPr>
          <a:lstStyle/>
          <a:p>
            <a:pPr algn="l">
              <a:lnSpc>
                <a:spcPts val="2609"/>
              </a:lnSpc>
            </a:pPr>
            <a:r>
              <a:rPr lang="en-US" sz="2931" b="1" spc="-128">
                <a:solidFill>
                  <a:srgbClr val="E4E2DD"/>
                </a:solidFill>
                <a:latin typeface="Aileron Bold"/>
                <a:ea typeface="Aileron Bold"/>
                <a:cs typeface="Aileron Bold"/>
                <a:sym typeface="Aileron Bold"/>
              </a:rPr>
              <a:t>Benefits</a:t>
            </a:r>
          </a:p>
        </p:txBody>
      </p:sp>
      <p:sp>
        <p:nvSpPr>
          <p:cNvPr id="11" name="TextBox 11"/>
          <p:cNvSpPr txBox="1"/>
          <p:nvPr/>
        </p:nvSpPr>
        <p:spPr>
          <a:xfrm>
            <a:off x="849450" y="8546253"/>
            <a:ext cx="6687440" cy="1161320"/>
          </a:xfrm>
          <a:prstGeom prst="rect">
            <a:avLst/>
          </a:prstGeom>
        </p:spPr>
        <p:txBody>
          <a:bodyPr lIns="0" tIns="0" rIns="0" bIns="0" rtlCol="0" anchor="t">
            <a:spAutoFit/>
          </a:bodyPr>
          <a:lstStyle/>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Faster Communication</a:t>
            </a:r>
          </a:p>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Better Coordination</a:t>
            </a:r>
          </a:p>
          <a:p>
            <a:pPr marL="415344" lvl="1" indent="-207672" algn="just">
              <a:lnSpc>
                <a:spcPts val="2308"/>
              </a:lnSpc>
              <a:buFont typeface="Arial"/>
              <a:buChar char="•"/>
            </a:pPr>
            <a:r>
              <a:rPr lang="en-US" sz="1923" spc="-38">
                <a:solidFill>
                  <a:srgbClr val="E4E2DD"/>
                </a:solidFill>
                <a:latin typeface="Montserrat"/>
                <a:ea typeface="Montserrat"/>
                <a:cs typeface="Montserrat"/>
                <a:sym typeface="Montserrat"/>
              </a:rPr>
              <a:t>Smooth Placement Workflow</a:t>
            </a:r>
          </a:p>
          <a:p>
            <a:pPr algn="just">
              <a:lnSpc>
                <a:spcPts val="2308"/>
              </a:lnSpc>
            </a:pPr>
            <a:endParaRPr lang="en-US" sz="1923" spc="-38">
              <a:solidFill>
                <a:srgbClr val="E4E2DD"/>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6758670" y="1324727"/>
            <a:ext cx="12305612" cy="8623272"/>
          </a:xfrm>
          <a:prstGeom prst="rect">
            <a:avLst/>
          </a:prstGeom>
        </p:spPr>
      </p:pic>
      <p:sp>
        <p:nvSpPr>
          <p:cNvPr id="3" name="Freeform 3"/>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3"/>
            <a:stretch>
              <a:fillRect l="-16732" t="-87648" r="-14033" b="-113366"/>
            </a:stretch>
          </a:blipFill>
        </p:spPr>
      </p:sp>
      <p:sp>
        <p:nvSpPr>
          <p:cNvPr id="4" name="TextBox 4"/>
          <p:cNvSpPr txBox="1"/>
          <p:nvPr/>
        </p:nvSpPr>
        <p:spPr>
          <a:xfrm>
            <a:off x="849450" y="2217579"/>
            <a:ext cx="5666067" cy="1503287"/>
          </a:xfrm>
          <a:prstGeom prst="rect">
            <a:avLst/>
          </a:prstGeom>
        </p:spPr>
        <p:txBody>
          <a:bodyPr lIns="0" tIns="0" rIns="0" bIns="0" rtlCol="0" anchor="t">
            <a:spAutoFit/>
          </a:bodyPr>
          <a:lstStyle/>
          <a:p>
            <a:pPr algn="l">
              <a:lnSpc>
                <a:spcPts val="5661"/>
              </a:lnSpc>
            </a:pPr>
            <a:r>
              <a:rPr lang="en-US" sz="6361" b="1" spc="-279">
                <a:solidFill>
                  <a:srgbClr val="E4E2DD"/>
                </a:solidFill>
                <a:latin typeface="Aileron Bold"/>
                <a:ea typeface="Aileron Bold"/>
                <a:cs typeface="Aileron Bold"/>
                <a:sym typeface="Aileron Bold"/>
              </a:rPr>
              <a:t>Glimpses of Our Dashboard</a:t>
            </a:r>
          </a:p>
        </p:txBody>
      </p:sp>
      <p:sp>
        <p:nvSpPr>
          <p:cNvPr id="5" name="TextBox 5"/>
          <p:cNvSpPr txBox="1"/>
          <p:nvPr/>
        </p:nvSpPr>
        <p:spPr>
          <a:xfrm>
            <a:off x="849450" y="4616884"/>
            <a:ext cx="6768388" cy="843131"/>
          </a:xfrm>
          <a:prstGeom prst="rect">
            <a:avLst/>
          </a:prstGeom>
        </p:spPr>
        <p:txBody>
          <a:bodyPr lIns="0" tIns="0" rIns="0" bIns="0" rtlCol="0" anchor="t">
            <a:spAutoFit/>
          </a:bodyPr>
          <a:lstStyle/>
          <a:p>
            <a:pPr algn="just">
              <a:lnSpc>
                <a:spcPts val="2253"/>
              </a:lnSpc>
            </a:pPr>
            <a:r>
              <a:rPr lang="en-US" sz="1877" spc="-37">
                <a:solidFill>
                  <a:srgbClr val="E4E2DD"/>
                </a:solidFill>
                <a:latin typeface="Montserrat"/>
                <a:ea typeface="Montserrat"/>
                <a:cs typeface="Montserrat"/>
                <a:sym typeface="Montserrat"/>
              </a:rPr>
              <a:t>A dashboard for Training &amp; Placement Officers to track placement performance, monitor recruitment trends, and analyze student selection data efficiently.</a:t>
            </a:r>
          </a:p>
        </p:txBody>
      </p:sp>
      <p:sp>
        <p:nvSpPr>
          <p:cNvPr id="6" name="TextBox 6"/>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
        <p:nvSpPr>
          <p:cNvPr id="7" name="TextBox 7"/>
          <p:cNvSpPr txBox="1"/>
          <p:nvPr/>
        </p:nvSpPr>
        <p:spPr>
          <a:xfrm>
            <a:off x="849450" y="4050307"/>
            <a:ext cx="7124952" cy="351554"/>
          </a:xfrm>
          <a:prstGeom prst="rect">
            <a:avLst/>
          </a:prstGeom>
        </p:spPr>
        <p:txBody>
          <a:bodyPr lIns="0" tIns="0" rIns="0" bIns="0" rtlCol="0" anchor="t">
            <a:spAutoFit/>
          </a:bodyPr>
          <a:lstStyle/>
          <a:p>
            <a:pPr algn="l">
              <a:lnSpc>
                <a:spcPts val="2546"/>
              </a:lnSpc>
            </a:pPr>
            <a:r>
              <a:rPr lang="en-US" sz="2861" b="1" spc="-125">
                <a:solidFill>
                  <a:srgbClr val="E4E2DD"/>
                </a:solidFill>
                <a:latin typeface="Aileron Bold"/>
                <a:ea typeface="Aileron Bold"/>
                <a:cs typeface="Aileron Bold"/>
                <a:sym typeface="Aileron Bold"/>
              </a:rPr>
              <a:t>5. Placement Analytics System</a:t>
            </a:r>
          </a:p>
        </p:txBody>
      </p:sp>
      <p:sp>
        <p:nvSpPr>
          <p:cNvPr id="8" name="TextBox 8"/>
          <p:cNvSpPr txBox="1"/>
          <p:nvPr/>
        </p:nvSpPr>
        <p:spPr>
          <a:xfrm>
            <a:off x="849450" y="5749126"/>
            <a:ext cx="4608133" cy="351554"/>
          </a:xfrm>
          <a:prstGeom prst="rect">
            <a:avLst/>
          </a:prstGeom>
        </p:spPr>
        <p:txBody>
          <a:bodyPr lIns="0" tIns="0" rIns="0" bIns="0" rtlCol="0" anchor="t">
            <a:spAutoFit/>
          </a:bodyPr>
          <a:lstStyle/>
          <a:p>
            <a:pPr algn="l">
              <a:lnSpc>
                <a:spcPts val="2546"/>
              </a:lnSpc>
            </a:pPr>
            <a:r>
              <a:rPr lang="en-US" sz="2861" b="1" spc="-125">
                <a:solidFill>
                  <a:srgbClr val="E4E2DD"/>
                </a:solidFill>
                <a:latin typeface="Aileron Bold"/>
                <a:ea typeface="Aileron Bold"/>
                <a:cs typeface="Aileron Bold"/>
                <a:sym typeface="Aileron Bold"/>
              </a:rPr>
              <a:t>Features</a:t>
            </a:r>
          </a:p>
        </p:txBody>
      </p:sp>
      <p:sp>
        <p:nvSpPr>
          <p:cNvPr id="9" name="TextBox 9"/>
          <p:cNvSpPr txBox="1"/>
          <p:nvPr/>
        </p:nvSpPr>
        <p:spPr>
          <a:xfrm>
            <a:off x="849450" y="6207010"/>
            <a:ext cx="6527069" cy="1686261"/>
          </a:xfrm>
          <a:prstGeom prst="rect">
            <a:avLst/>
          </a:prstGeom>
        </p:spPr>
        <p:txBody>
          <a:bodyPr lIns="0" tIns="0" rIns="0" bIns="0" rtlCol="0" anchor="t">
            <a:spAutoFit/>
          </a:bodyPr>
          <a:lstStyle/>
          <a:p>
            <a:pPr marL="405384" lvl="1" indent="-202692" algn="just">
              <a:lnSpc>
                <a:spcPts val="2253"/>
              </a:lnSpc>
              <a:buFont typeface="Arial"/>
              <a:buChar char="•"/>
            </a:pPr>
            <a:r>
              <a:rPr lang="en-US" sz="1877" spc="-37">
                <a:solidFill>
                  <a:srgbClr val="E4E2DD"/>
                </a:solidFill>
                <a:latin typeface="Montserrat"/>
                <a:ea typeface="Montserrat"/>
                <a:cs typeface="Montserrat"/>
                <a:sym typeface="Montserrat"/>
              </a:rPr>
              <a:t>Placement Analytics</a:t>
            </a:r>
          </a:p>
          <a:p>
            <a:pPr marL="405384" lvl="1" indent="-202692" algn="just">
              <a:lnSpc>
                <a:spcPts val="2253"/>
              </a:lnSpc>
              <a:buFont typeface="Arial"/>
              <a:buChar char="•"/>
            </a:pPr>
            <a:r>
              <a:rPr lang="en-US" sz="1877" spc="-37">
                <a:solidFill>
                  <a:srgbClr val="E4E2DD"/>
                </a:solidFill>
                <a:latin typeface="Montserrat"/>
                <a:ea typeface="Montserrat"/>
                <a:cs typeface="Montserrat"/>
                <a:sym typeface="Montserrat"/>
              </a:rPr>
              <a:t>Department Insights</a:t>
            </a:r>
          </a:p>
          <a:p>
            <a:pPr marL="405384" lvl="1" indent="-202692" algn="just">
              <a:lnSpc>
                <a:spcPts val="2253"/>
              </a:lnSpc>
              <a:buFont typeface="Arial"/>
              <a:buChar char="•"/>
            </a:pPr>
            <a:r>
              <a:rPr lang="en-US" sz="1877" spc="-37">
                <a:solidFill>
                  <a:srgbClr val="E4E2DD"/>
                </a:solidFill>
                <a:latin typeface="Montserrat"/>
                <a:ea typeface="Montserrat"/>
                <a:cs typeface="Montserrat"/>
                <a:sym typeface="Montserrat"/>
              </a:rPr>
              <a:t>Selection Rate Tracking</a:t>
            </a:r>
          </a:p>
          <a:p>
            <a:pPr marL="405384" lvl="1" indent="-202692" algn="just">
              <a:lnSpc>
                <a:spcPts val="2253"/>
              </a:lnSpc>
              <a:buFont typeface="Arial"/>
              <a:buChar char="•"/>
            </a:pPr>
            <a:r>
              <a:rPr lang="en-US" sz="1877" spc="-37">
                <a:solidFill>
                  <a:srgbClr val="E4E2DD"/>
                </a:solidFill>
                <a:latin typeface="Montserrat"/>
                <a:ea typeface="Montserrat"/>
                <a:cs typeface="Montserrat"/>
                <a:sym typeface="Montserrat"/>
              </a:rPr>
              <a:t>Report Export System</a:t>
            </a:r>
          </a:p>
          <a:p>
            <a:pPr marL="405384" lvl="1" indent="-202692" algn="just">
              <a:lnSpc>
                <a:spcPts val="2253"/>
              </a:lnSpc>
              <a:buFont typeface="Arial"/>
              <a:buChar char="•"/>
            </a:pPr>
            <a:r>
              <a:rPr lang="en-US" sz="1877" spc="-37">
                <a:solidFill>
                  <a:srgbClr val="E4E2DD"/>
                </a:solidFill>
                <a:latin typeface="Montserrat"/>
                <a:ea typeface="Montserrat"/>
                <a:cs typeface="Montserrat"/>
                <a:sym typeface="Montserrat"/>
              </a:rPr>
              <a:t>CSV &amp; PDF Report Export</a:t>
            </a:r>
          </a:p>
          <a:p>
            <a:pPr algn="just">
              <a:lnSpc>
                <a:spcPts val="2253"/>
              </a:lnSpc>
            </a:pPr>
            <a:endParaRPr lang="en-US" sz="1877" spc="-37">
              <a:solidFill>
                <a:srgbClr val="E4E2DD"/>
              </a:solidFill>
              <a:latin typeface="Montserrat"/>
              <a:ea typeface="Montserrat"/>
              <a:cs typeface="Montserrat"/>
              <a:sym typeface="Montserrat"/>
            </a:endParaRPr>
          </a:p>
        </p:txBody>
      </p:sp>
      <p:sp>
        <p:nvSpPr>
          <p:cNvPr id="10" name="TextBox 10"/>
          <p:cNvSpPr txBox="1"/>
          <p:nvPr/>
        </p:nvSpPr>
        <p:spPr>
          <a:xfrm>
            <a:off x="1041151" y="7968965"/>
            <a:ext cx="4608133" cy="351554"/>
          </a:xfrm>
          <a:prstGeom prst="rect">
            <a:avLst/>
          </a:prstGeom>
        </p:spPr>
        <p:txBody>
          <a:bodyPr lIns="0" tIns="0" rIns="0" bIns="0" rtlCol="0" anchor="t">
            <a:spAutoFit/>
          </a:bodyPr>
          <a:lstStyle/>
          <a:p>
            <a:pPr algn="l">
              <a:lnSpc>
                <a:spcPts val="2546"/>
              </a:lnSpc>
            </a:pPr>
            <a:r>
              <a:rPr lang="en-US" sz="2861" b="1" spc="-125">
                <a:solidFill>
                  <a:srgbClr val="E4E2DD"/>
                </a:solidFill>
                <a:latin typeface="Aileron Bold"/>
                <a:ea typeface="Aileron Bold"/>
                <a:cs typeface="Aileron Bold"/>
                <a:sym typeface="Aileron Bold"/>
              </a:rPr>
              <a:t>Benefits</a:t>
            </a:r>
          </a:p>
        </p:txBody>
      </p:sp>
      <p:sp>
        <p:nvSpPr>
          <p:cNvPr id="11" name="TextBox 11"/>
          <p:cNvSpPr txBox="1"/>
          <p:nvPr/>
        </p:nvSpPr>
        <p:spPr>
          <a:xfrm>
            <a:off x="849450" y="8399442"/>
            <a:ext cx="6527069" cy="1124174"/>
          </a:xfrm>
          <a:prstGeom prst="rect">
            <a:avLst/>
          </a:prstGeom>
        </p:spPr>
        <p:txBody>
          <a:bodyPr lIns="0" tIns="0" rIns="0" bIns="0" rtlCol="0" anchor="t">
            <a:spAutoFit/>
          </a:bodyPr>
          <a:lstStyle/>
          <a:p>
            <a:pPr marL="405384" lvl="1" indent="-202692" algn="just">
              <a:lnSpc>
                <a:spcPts val="2253"/>
              </a:lnSpc>
              <a:buFont typeface="Arial"/>
              <a:buChar char="•"/>
            </a:pPr>
            <a:r>
              <a:rPr lang="en-US" sz="1877" spc="-37">
                <a:solidFill>
                  <a:srgbClr val="E4E2DD"/>
                </a:solidFill>
                <a:latin typeface="Montserrat"/>
                <a:ea typeface="Montserrat"/>
                <a:cs typeface="Montserrat"/>
                <a:sym typeface="Montserrat"/>
              </a:rPr>
              <a:t>Better Analysis</a:t>
            </a:r>
          </a:p>
          <a:p>
            <a:pPr marL="405384" lvl="1" indent="-202692" algn="just">
              <a:lnSpc>
                <a:spcPts val="2253"/>
              </a:lnSpc>
              <a:buFont typeface="Arial"/>
              <a:buChar char="•"/>
            </a:pPr>
            <a:r>
              <a:rPr lang="en-US" sz="1877" spc="-37">
                <a:solidFill>
                  <a:srgbClr val="E4E2DD"/>
                </a:solidFill>
                <a:latin typeface="Montserrat"/>
                <a:ea typeface="Montserrat"/>
                <a:cs typeface="Montserrat"/>
                <a:sym typeface="Montserrat"/>
              </a:rPr>
              <a:t>Easy Report Management</a:t>
            </a:r>
          </a:p>
          <a:p>
            <a:pPr marL="405384" lvl="1" indent="-202692" algn="just">
              <a:lnSpc>
                <a:spcPts val="2253"/>
              </a:lnSpc>
              <a:buFont typeface="Arial"/>
              <a:buChar char="•"/>
            </a:pPr>
            <a:r>
              <a:rPr lang="en-US" sz="1877" spc="-37">
                <a:solidFill>
                  <a:srgbClr val="E4E2DD"/>
                </a:solidFill>
                <a:latin typeface="Montserrat"/>
                <a:ea typeface="Montserrat"/>
                <a:cs typeface="Montserrat"/>
                <a:sym typeface="Montserrat"/>
              </a:rPr>
              <a:t>Real-Time Insights</a:t>
            </a:r>
          </a:p>
          <a:p>
            <a:pPr algn="just">
              <a:lnSpc>
                <a:spcPts val="2253"/>
              </a:lnSpc>
            </a:pPr>
            <a:endParaRPr lang="en-US" sz="1877" spc="-37">
              <a:solidFill>
                <a:srgbClr val="E4E2DD"/>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028700" y="3671576"/>
            <a:ext cx="13544013" cy="3353422"/>
          </a:xfrm>
          <a:prstGeom prst="rect">
            <a:avLst/>
          </a:prstGeom>
        </p:spPr>
        <p:txBody>
          <a:bodyPr lIns="0" tIns="0" rIns="0" bIns="0" rtlCol="0" anchor="t">
            <a:spAutoFit/>
          </a:bodyPr>
          <a:lstStyle/>
          <a:p>
            <a:pPr algn="l">
              <a:lnSpc>
                <a:spcPts val="12648"/>
              </a:lnSpc>
            </a:pPr>
            <a:r>
              <a:rPr lang="en-US" sz="14212" b="1" spc="-625">
                <a:solidFill>
                  <a:srgbClr val="E4E2DD"/>
                </a:solidFill>
                <a:latin typeface="Aileron Bold"/>
                <a:ea typeface="Aileron Bold"/>
                <a:cs typeface="Aileron Bold"/>
                <a:sym typeface="Aileron Bold"/>
              </a:rPr>
              <a:t>Why Choose Ozibook.in ?</a:t>
            </a:r>
          </a:p>
        </p:txBody>
      </p:sp>
      <p:sp>
        <p:nvSpPr>
          <p:cNvPr id="3" name="Freeform 3"/>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2"/>
            <a:stretch>
              <a:fillRect l="-16732" t="-87648" r="-14033" b="-113366"/>
            </a:stretch>
          </a:blipFill>
        </p:spPr>
      </p:sp>
      <p:sp>
        <p:nvSpPr>
          <p:cNvPr id="4" name="TextBox 4"/>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2"/>
            <a:stretch>
              <a:fillRect l="-16732" t="-87648" r="-14033" b="-113366"/>
            </a:stretch>
          </a:blipFill>
        </p:spPr>
      </p:sp>
      <p:sp>
        <p:nvSpPr>
          <p:cNvPr id="3" name="TextBox 3"/>
          <p:cNvSpPr txBox="1"/>
          <p:nvPr/>
        </p:nvSpPr>
        <p:spPr>
          <a:xfrm>
            <a:off x="1028700" y="2147106"/>
            <a:ext cx="5805282" cy="1544670"/>
          </a:xfrm>
          <a:prstGeom prst="rect">
            <a:avLst/>
          </a:prstGeom>
        </p:spPr>
        <p:txBody>
          <a:bodyPr lIns="0" tIns="0" rIns="0" bIns="0" rtlCol="0" anchor="t">
            <a:spAutoFit/>
          </a:bodyPr>
          <a:lstStyle/>
          <a:p>
            <a:pPr algn="l">
              <a:lnSpc>
                <a:spcPts val="5800"/>
              </a:lnSpc>
            </a:pPr>
            <a:r>
              <a:rPr lang="en-US" sz="6517" b="1" spc="-286">
                <a:solidFill>
                  <a:srgbClr val="E4E2DD"/>
                </a:solidFill>
                <a:latin typeface="Aileron Bold"/>
                <a:ea typeface="Aileron Bold"/>
                <a:cs typeface="Aileron Bold"/>
                <a:sym typeface="Aileron Bold"/>
              </a:rPr>
              <a:t>Why Choose Ozibook.in?</a:t>
            </a:r>
          </a:p>
        </p:txBody>
      </p:sp>
      <p:sp>
        <p:nvSpPr>
          <p:cNvPr id="4" name="TextBox 4"/>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
        <p:nvSpPr>
          <p:cNvPr id="5" name="TextBox 5"/>
          <p:cNvSpPr txBox="1"/>
          <p:nvPr/>
        </p:nvSpPr>
        <p:spPr>
          <a:xfrm>
            <a:off x="1028700" y="3855989"/>
            <a:ext cx="7327642" cy="6217964"/>
          </a:xfrm>
          <a:prstGeom prst="rect">
            <a:avLst/>
          </a:prstGeom>
        </p:spPr>
        <p:txBody>
          <a:bodyPr lIns="0" tIns="0" rIns="0" bIns="0" rtlCol="0" anchor="t">
            <a:spAutoFit/>
          </a:bodyPr>
          <a:lstStyle/>
          <a:p>
            <a:pPr algn="l">
              <a:lnSpc>
                <a:spcPts val="4455"/>
              </a:lnSpc>
            </a:pPr>
            <a:r>
              <a:rPr lang="en-US" sz="2931" b="1" spc="-128" dirty="0">
                <a:solidFill>
                  <a:srgbClr val="E4E2DD"/>
                </a:solidFill>
                <a:latin typeface="Aileron Bold"/>
                <a:ea typeface="Aileron Bold"/>
                <a:cs typeface="Aileron Bold"/>
                <a:sym typeface="Aileron Bold"/>
              </a:rPr>
              <a:t>1. Dedicated Dashboards for TPOs, Students &amp; Management</a:t>
            </a:r>
          </a:p>
          <a:p>
            <a:pPr algn="l">
              <a:lnSpc>
                <a:spcPts val="4455"/>
              </a:lnSpc>
            </a:pPr>
            <a:r>
              <a:rPr lang="en-US" sz="2931" b="1" spc="-128" dirty="0">
                <a:solidFill>
                  <a:srgbClr val="E4E2DD"/>
                </a:solidFill>
                <a:latin typeface="Aileron Bold"/>
                <a:ea typeface="Aileron Bold"/>
                <a:cs typeface="Aileron Bold"/>
                <a:sym typeface="Aileron Bold"/>
              </a:rPr>
              <a:t>2.  Comprehensive Recorded Lecture Library</a:t>
            </a:r>
          </a:p>
          <a:p>
            <a:pPr algn="l">
              <a:lnSpc>
                <a:spcPts val="3664"/>
              </a:lnSpc>
            </a:pPr>
            <a:r>
              <a:rPr lang="en-US" sz="2931" b="1" spc="-128" dirty="0">
                <a:solidFill>
                  <a:srgbClr val="E4E2DD"/>
                </a:solidFill>
                <a:latin typeface="Aileron Bold"/>
                <a:ea typeface="Aileron Bold"/>
                <a:cs typeface="Aileron Bold"/>
                <a:sym typeface="Aileron Bold"/>
              </a:rPr>
              <a:t>3.  AI-Powered Assessments &amp; Smart Solutions</a:t>
            </a:r>
          </a:p>
          <a:p>
            <a:pPr algn="l">
              <a:lnSpc>
                <a:spcPts val="3664"/>
              </a:lnSpc>
            </a:pPr>
            <a:r>
              <a:rPr lang="en-US" sz="2931" b="1" spc="-128" dirty="0">
                <a:solidFill>
                  <a:srgbClr val="E4E2DD"/>
                </a:solidFill>
                <a:latin typeface="Aileron Bold"/>
                <a:ea typeface="Aileron Bold"/>
                <a:cs typeface="Aileron Bold"/>
                <a:sym typeface="Aileron Bold"/>
              </a:rPr>
              <a:t>4.  24×7 AI Learning Support</a:t>
            </a:r>
          </a:p>
          <a:p>
            <a:pPr algn="l">
              <a:lnSpc>
                <a:spcPts val="3664"/>
              </a:lnSpc>
            </a:pPr>
            <a:r>
              <a:rPr lang="en-US" sz="2931" b="1" spc="-128" dirty="0">
                <a:solidFill>
                  <a:srgbClr val="E4E2DD"/>
                </a:solidFill>
                <a:latin typeface="Aileron Bold"/>
                <a:ea typeface="Aileron Bold"/>
                <a:cs typeface="Aileron Bold"/>
                <a:sym typeface="Aileron Bold"/>
              </a:rPr>
              <a:t>5.  Advanced DSA Practice Arena</a:t>
            </a:r>
          </a:p>
          <a:p>
            <a:pPr algn="l">
              <a:lnSpc>
                <a:spcPts val="3664"/>
              </a:lnSpc>
            </a:pPr>
            <a:r>
              <a:rPr lang="en-US" sz="2931" b="1" spc="-128" dirty="0">
                <a:solidFill>
                  <a:srgbClr val="E4E2DD"/>
                </a:solidFill>
                <a:latin typeface="Aileron Bold"/>
                <a:ea typeface="Aileron Bold"/>
                <a:cs typeface="Aileron Bold"/>
                <a:sym typeface="Aileron Bold"/>
              </a:rPr>
              <a:t>6. AI-Driven Interview Preparation Courses</a:t>
            </a:r>
          </a:p>
          <a:p>
            <a:pPr algn="l">
              <a:lnSpc>
                <a:spcPts val="3664"/>
              </a:lnSpc>
            </a:pPr>
            <a:r>
              <a:rPr lang="en-US" sz="2931" b="1" spc="-128" dirty="0">
                <a:solidFill>
                  <a:srgbClr val="E4E2DD"/>
                </a:solidFill>
                <a:latin typeface="Aileron Bold"/>
                <a:ea typeface="Aileron Bold"/>
                <a:cs typeface="Aileron Bold"/>
                <a:sym typeface="Aileron Bold"/>
              </a:rPr>
              <a:t>7. Integrated Tests &amp; Assignments</a:t>
            </a:r>
          </a:p>
          <a:p>
            <a:pPr algn="l">
              <a:lnSpc>
                <a:spcPts val="3664"/>
              </a:lnSpc>
            </a:pPr>
            <a:r>
              <a:rPr lang="en-US" sz="2931" b="1" spc="-128" dirty="0">
                <a:solidFill>
                  <a:srgbClr val="E4E2DD"/>
                </a:solidFill>
                <a:latin typeface="Aileron Bold"/>
                <a:ea typeface="Aileron Bold"/>
                <a:cs typeface="Aileron Bold"/>
                <a:sym typeface="Aileron Bold"/>
              </a:rPr>
              <a:t>8.  Placement-Oriented MCQ Practice System</a:t>
            </a:r>
          </a:p>
          <a:p>
            <a:pPr algn="l">
              <a:lnSpc>
                <a:spcPts val="3664"/>
              </a:lnSpc>
            </a:pPr>
            <a:r>
              <a:rPr lang="en-US" sz="2931" b="1" spc="-128" dirty="0">
                <a:solidFill>
                  <a:srgbClr val="E4E2DD"/>
                </a:solidFill>
                <a:latin typeface="Aileron Bold"/>
                <a:ea typeface="Aileron Bold"/>
                <a:cs typeface="Aileron Bold"/>
                <a:sym typeface="Aileron Bold"/>
              </a:rPr>
              <a:t>9. Expert-Led Mock Interviews</a:t>
            </a:r>
          </a:p>
          <a:p>
            <a:pPr algn="l">
              <a:lnSpc>
                <a:spcPts val="3664"/>
              </a:lnSpc>
            </a:pPr>
            <a:r>
              <a:rPr lang="en-US" sz="2931" b="1" spc="-128" dirty="0">
                <a:solidFill>
                  <a:srgbClr val="E4E2DD"/>
                </a:solidFill>
                <a:latin typeface="Aileron Bold"/>
                <a:ea typeface="Aileron Bold"/>
                <a:cs typeface="Aileron Bold"/>
                <a:sym typeface="Aileron Bold"/>
              </a:rPr>
              <a:t>10. National &amp; Campus Hackathons</a:t>
            </a:r>
          </a:p>
          <a:p>
            <a:pPr algn="l">
              <a:lnSpc>
                <a:spcPts val="2609"/>
              </a:lnSpc>
            </a:pPr>
            <a:r>
              <a:rPr lang="en-US" sz="2931" b="1" spc="-128" dirty="0">
                <a:solidFill>
                  <a:srgbClr val="E4E2DD"/>
                </a:solidFill>
                <a:latin typeface="Aileron Bold"/>
                <a:ea typeface="Aileron Bold"/>
                <a:cs typeface="Aileron Bold"/>
                <a:sym typeface="Aileron Bold"/>
              </a:rPr>
              <a:t> </a:t>
            </a:r>
          </a:p>
        </p:txBody>
      </p:sp>
      <p:sp>
        <p:nvSpPr>
          <p:cNvPr id="6" name="TextBox 6"/>
          <p:cNvSpPr txBox="1"/>
          <p:nvPr/>
        </p:nvSpPr>
        <p:spPr>
          <a:xfrm>
            <a:off x="8938358" y="1986893"/>
            <a:ext cx="8320942" cy="6113189"/>
          </a:xfrm>
          <a:prstGeom prst="rect">
            <a:avLst/>
          </a:prstGeom>
        </p:spPr>
        <p:txBody>
          <a:bodyPr lIns="0" tIns="0" rIns="0" bIns="0" rtlCol="0" anchor="t">
            <a:spAutoFit/>
          </a:bodyPr>
          <a:lstStyle/>
          <a:p>
            <a:pPr algn="l">
              <a:lnSpc>
                <a:spcPts val="4455"/>
              </a:lnSpc>
            </a:pPr>
            <a:r>
              <a:rPr lang="en-US" sz="2931" b="1" spc="-128" dirty="0">
                <a:solidFill>
                  <a:srgbClr val="E4E2DD"/>
                </a:solidFill>
                <a:latin typeface="Aileron Bold"/>
                <a:ea typeface="Aileron Bold"/>
                <a:cs typeface="Aileron Bold"/>
                <a:sym typeface="Aileron Bold"/>
              </a:rPr>
              <a:t>11. Coding Competitions &amp; Skill Contests </a:t>
            </a:r>
          </a:p>
          <a:p>
            <a:pPr algn="l">
              <a:lnSpc>
                <a:spcPts val="4455"/>
              </a:lnSpc>
            </a:pPr>
            <a:r>
              <a:rPr lang="en-US" sz="2931" b="1" spc="-128" dirty="0">
                <a:solidFill>
                  <a:srgbClr val="E4E2DD"/>
                </a:solidFill>
                <a:latin typeface="Aileron Bold"/>
                <a:ea typeface="Aileron Bold"/>
                <a:cs typeface="Aileron Bold"/>
                <a:sym typeface="Aileron Bold"/>
              </a:rPr>
              <a:t>12.  In-College Hackathon Assessments</a:t>
            </a:r>
          </a:p>
          <a:p>
            <a:pPr algn="l">
              <a:lnSpc>
                <a:spcPts val="3664"/>
              </a:lnSpc>
            </a:pPr>
            <a:r>
              <a:rPr lang="en-US" sz="2931" b="1" spc="-128" dirty="0">
                <a:solidFill>
                  <a:srgbClr val="E4E2DD"/>
                </a:solidFill>
                <a:latin typeface="Aileron Bold"/>
                <a:ea typeface="Aileron Bold"/>
                <a:cs typeface="Aileron Bold"/>
                <a:sym typeface="Aileron Bold"/>
              </a:rPr>
              <a:t>13.  End-to-End Placement Assistance</a:t>
            </a:r>
          </a:p>
          <a:p>
            <a:pPr algn="l">
              <a:lnSpc>
                <a:spcPts val="3664"/>
              </a:lnSpc>
            </a:pPr>
            <a:r>
              <a:rPr lang="en-US" sz="2931" b="1" spc="-128" dirty="0">
                <a:solidFill>
                  <a:srgbClr val="E4E2DD"/>
                </a:solidFill>
                <a:latin typeface="Aileron Bold"/>
                <a:ea typeface="Aileron Bold"/>
                <a:cs typeface="Aileron Bold"/>
                <a:sym typeface="Aileron Bold"/>
              </a:rPr>
              <a:t>14.  Daily Live Interactive Classes</a:t>
            </a:r>
          </a:p>
          <a:p>
            <a:pPr algn="l">
              <a:lnSpc>
                <a:spcPts val="3664"/>
              </a:lnSpc>
            </a:pPr>
            <a:r>
              <a:rPr lang="en-US" sz="2931" b="1" spc="-128" dirty="0">
                <a:solidFill>
                  <a:srgbClr val="E4E2DD"/>
                </a:solidFill>
                <a:latin typeface="Aileron Bold"/>
                <a:ea typeface="Aileron Bold"/>
                <a:cs typeface="Aileron Bold"/>
                <a:sym typeface="Aileron Bold"/>
              </a:rPr>
              <a:t>15.  Weekend Sessions with Industry Experts &amp;</a:t>
            </a:r>
          </a:p>
          <a:p>
            <a:pPr algn="l">
              <a:lnSpc>
                <a:spcPts val="3664"/>
              </a:lnSpc>
            </a:pPr>
            <a:r>
              <a:rPr lang="en-US" sz="2931" b="1" spc="-128" dirty="0">
                <a:solidFill>
                  <a:srgbClr val="E4E2DD"/>
                </a:solidFill>
                <a:latin typeface="Aileron Bold"/>
                <a:ea typeface="Aileron Bold"/>
                <a:cs typeface="Aileron Bold"/>
                <a:sym typeface="Aileron Bold"/>
              </a:rPr>
              <a:t>           </a:t>
            </a:r>
            <a:r>
              <a:rPr lang="en-US" sz="2931" b="1" spc="-128" dirty="0" err="1">
                <a:solidFill>
                  <a:srgbClr val="E4E2DD"/>
                </a:solidFill>
                <a:latin typeface="Aileron Bold"/>
                <a:ea typeface="Aileron Bold"/>
                <a:cs typeface="Aileron Bold"/>
                <a:sym typeface="Aileron Bold"/>
              </a:rPr>
              <a:t>IITians</a:t>
            </a:r>
            <a:endParaRPr lang="en-US" sz="2931" b="1" spc="-128" dirty="0">
              <a:solidFill>
                <a:srgbClr val="E4E2DD"/>
              </a:solidFill>
              <a:latin typeface="Aileron Bold"/>
              <a:ea typeface="Aileron Bold"/>
              <a:cs typeface="Aileron Bold"/>
              <a:sym typeface="Aileron Bold"/>
            </a:endParaRPr>
          </a:p>
          <a:p>
            <a:pPr algn="l">
              <a:lnSpc>
                <a:spcPts val="3664"/>
              </a:lnSpc>
            </a:pPr>
            <a:r>
              <a:rPr lang="en-US" sz="2931" b="1" spc="-128" dirty="0">
                <a:solidFill>
                  <a:srgbClr val="E4E2DD"/>
                </a:solidFill>
                <a:latin typeface="Aileron Bold"/>
                <a:ea typeface="Aileron Bold"/>
                <a:cs typeface="Aileron Bold"/>
                <a:sym typeface="Aileron Bold"/>
              </a:rPr>
              <a:t>16. Daily Mentor-Led Doubt Solving</a:t>
            </a:r>
          </a:p>
          <a:p>
            <a:pPr algn="l">
              <a:lnSpc>
                <a:spcPts val="3664"/>
              </a:lnSpc>
            </a:pPr>
            <a:r>
              <a:rPr lang="en-US" sz="2931" b="1" spc="-128" dirty="0">
                <a:solidFill>
                  <a:srgbClr val="E4E2DD"/>
                </a:solidFill>
                <a:latin typeface="Aileron Bold"/>
                <a:ea typeface="Aileron Bold"/>
                <a:cs typeface="Aileron Bold"/>
                <a:sym typeface="Aileron Bold"/>
              </a:rPr>
              <a:t>17. Monthly Offline Performance Assessments</a:t>
            </a:r>
          </a:p>
          <a:p>
            <a:pPr algn="l">
              <a:lnSpc>
                <a:spcPts val="3664"/>
              </a:lnSpc>
            </a:pPr>
            <a:r>
              <a:rPr lang="en-US" sz="2931" b="1" spc="-128" dirty="0">
                <a:solidFill>
                  <a:srgbClr val="E4E2DD"/>
                </a:solidFill>
                <a:latin typeface="Aileron Bold"/>
                <a:ea typeface="Aileron Bold"/>
                <a:cs typeface="Aileron Bold"/>
                <a:sym typeface="Aileron Bold"/>
              </a:rPr>
              <a:t>18.  Real-Time Practice Mode During Live Classes</a:t>
            </a:r>
          </a:p>
          <a:p>
            <a:pPr algn="l">
              <a:lnSpc>
                <a:spcPts val="3664"/>
              </a:lnSpc>
            </a:pPr>
            <a:r>
              <a:rPr lang="en-US" sz="2931" b="1" spc="-128" dirty="0">
                <a:solidFill>
                  <a:srgbClr val="E4E2DD"/>
                </a:solidFill>
                <a:latin typeface="Aileron Bold"/>
                <a:ea typeface="Aileron Bold"/>
                <a:cs typeface="Aileron Bold"/>
                <a:sym typeface="Aileron Bold"/>
              </a:rPr>
              <a:t>19. Automatic GitHub Code Integration</a:t>
            </a:r>
          </a:p>
          <a:p>
            <a:pPr algn="l">
              <a:lnSpc>
                <a:spcPts val="3664"/>
              </a:lnSpc>
            </a:pPr>
            <a:r>
              <a:rPr lang="en-US" sz="2931" b="1" spc="-128" dirty="0">
                <a:solidFill>
                  <a:srgbClr val="E4E2DD"/>
                </a:solidFill>
                <a:latin typeface="Aileron Bold"/>
                <a:ea typeface="Aileron Bold"/>
                <a:cs typeface="Aileron Bold"/>
                <a:sym typeface="Aileron Bold"/>
              </a:rPr>
              <a:t>20. Industry-Focused Career Programs (Data Science, DSA, Web Development &amp; More)</a:t>
            </a:r>
          </a:p>
          <a:p>
            <a:pPr algn="l">
              <a:lnSpc>
                <a:spcPts val="2609"/>
              </a:lnSpc>
            </a:pPr>
            <a:r>
              <a:rPr lang="en-US" sz="2931" b="1" spc="-128" dirty="0">
                <a:solidFill>
                  <a:srgbClr val="E4E2DD"/>
                </a:solidFill>
                <a:latin typeface="Aileron Bold"/>
                <a:ea typeface="Aileron Bold"/>
                <a:cs typeface="Aileron Bold"/>
                <a:sym typeface="Aileron Bold"/>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2887613" y="3924300"/>
            <a:ext cx="12208818" cy="1317821"/>
          </a:xfrm>
          <a:prstGeom prst="rect">
            <a:avLst/>
          </a:prstGeom>
        </p:spPr>
        <p:txBody>
          <a:bodyPr lIns="0" tIns="0" rIns="0" bIns="0" rtlCol="0" anchor="t">
            <a:spAutoFit/>
          </a:bodyPr>
          <a:lstStyle/>
          <a:p>
            <a:pPr algn="ctr">
              <a:lnSpc>
                <a:spcPts val="9550"/>
              </a:lnSpc>
            </a:pPr>
            <a:r>
              <a:rPr lang="en-US" sz="10730" b="1" spc="-472" dirty="0">
                <a:solidFill>
                  <a:srgbClr val="E4E2DD"/>
                </a:solidFill>
                <a:latin typeface="Aileron Bold"/>
                <a:ea typeface="Aileron Bold"/>
                <a:cs typeface="Aileron Bold"/>
                <a:sym typeface="Aileron Bold"/>
              </a:rPr>
              <a:t>Let's Work Together!</a:t>
            </a:r>
          </a:p>
        </p:txBody>
      </p:sp>
      <p:sp>
        <p:nvSpPr>
          <p:cNvPr id="3" name="TextBox 3"/>
          <p:cNvSpPr txBox="1"/>
          <p:nvPr/>
        </p:nvSpPr>
        <p:spPr>
          <a:xfrm>
            <a:off x="2887613" y="8039100"/>
            <a:ext cx="12787320" cy="942975"/>
          </a:xfrm>
          <a:prstGeom prst="rect">
            <a:avLst/>
          </a:prstGeom>
        </p:spPr>
        <p:txBody>
          <a:bodyPr lIns="0" tIns="0" rIns="0" bIns="0" rtlCol="0" anchor="t">
            <a:spAutoFit/>
          </a:bodyPr>
          <a:lstStyle/>
          <a:p>
            <a:pPr algn="ctr">
              <a:lnSpc>
                <a:spcPts val="2520"/>
              </a:lnSpc>
            </a:pPr>
            <a:r>
              <a:rPr lang="en-US" sz="2100" spc="-42" dirty="0">
                <a:solidFill>
                  <a:srgbClr val="E4E2DD"/>
                </a:solidFill>
                <a:latin typeface="Montserrat"/>
                <a:ea typeface="Montserrat"/>
                <a:cs typeface="Montserrat"/>
                <a:sym typeface="Montserrat"/>
              </a:rPr>
              <a:t>Thank you for exploring our Smart Placement Management System.</a:t>
            </a:r>
          </a:p>
          <a:p>
            <a:pPr algn="ctr">
              <a:lnSpc>
                <a:spcPts val="2520"/>
              </a:lnSpc>
            </a:pPr>
            <a:r>
              <a:rPr lang="en-US" sz="2100" spc="-42" dirty="0">
                <a:solidFill>
                  <a:srgbClr val="E4E2DD"/>
                </a:solidFill>
                <a:latin typeface="Montserrat"/>
                <a:ea typeface="Montserrat"/>
                <a:cs typeface="Montserrat"/>
                <a:sym typeface="Montserrat"/>
              </a:rPr>
              <a:t> Our platform is designed to simplify placement operations, improve student coordination, and enhance recruitment management through a centralized digital solution.</a:t>
            </a:r>
          </a:p>
        </p:txBody>
      </p:sp>
      <p:sp>
        <p:nvSpPr>
          <p:cNvPr id="4" name="Freeform 4"/>
          <p:cNvSpPr/>
          <p:nvPr/>
        </p:nvSpPr>
        <p:spPr>
          <a:xfrm>
            <a:off x="849450" y="925690"/>
            <a:ext cx="2183472" cy="631960"/>
          </a:xfrm>
          <a:custGeom>
            <a:avLst/>
            <a:gdLst/>
            <a:ahLst/>
            <a:cxnLst/>
            <a:rect l="l" t="t" r="r" b="b"/>
            <a:pathLst>
              <a:path w="2183472" h="631960">
                <a:moveTo>
                  <a:pt x="0" y="0"/>
                </a:moveTo>
                <a:lnTo>
                  <a:pt x="2183472" y="0"/>
                </a:lnTo>
                <a:lnTo>
                  <a:pt x="2183472" y="631960"/>
                </a:lnTo>
                <a:lnTo>
                  <a:pt x="0" y="631960"/>
                </a:lnTo>
                <a:lnTo>
                  <a:pt x="0" y="0"/>
                </a:lnTo>
                <a:close/>
              </a:path>
            </a:pathLst>
          </a:custGeom>
          <a:blipFill>
            <a:blip r:embed="rId2"/>
            <a:stretch>
              <a:fillRect l="-16732" t="-87648" r="-14033" b="-113366"/>
            </a:stretch>
          </a:blipFill>
        </p:spPr>
      </p:sp>
      <p:sp>
        <p:nvSpPr>
          <p:cNvPr id="5" name="TextBox 5"/>
          <p:cNvSpPr txBox="1"/>
          <p:nvPr/>
        </p:nvSpPr>
        <p:spPr>
          <a:xfrm>
            <a:off x="15679482" y="1064462"/>
            <a:ext cx="2071506" cy="363941"/>
          </a:xfrm>
          <a:prstGeom prst="rect">
            <a:avLst/>
          </a:prstGeom>
        </p:spPr>
        <p:txBody>
          <a:bodyPr lIns="0" tIns="0" rIns="0" bIns="0" rtlCol="0" anchor="t">
            <a:spAutoFit/>
          </a:bodyPr>
          <a:lstStyle/>
          <a:p>
            <a:pPr algn="l">
              <a:lnSpc>
                <a:spcPts val="2994"/>
              </a:lnSpc>
            </a:pPr>
            <a:r>
              <a:rPr lang="en-US" sz="2495" b="1">
                <a:solidFill>
                  <a:srgbClr val="E4E2DD"/>
                </a:solidFill>
                <a:latin typeface="Montserrat Bold"/>
                <a:ea typeface="Montserrat Bold"/>
                <a:cs typeface="Montserrat Bold"/>
                <a:sym typeface="Montserrat Bold"/>
              </a:rPr>
              <a:t>ozibook.in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TotalTime>
  <Words>1148</Words>
  <Application>Microsoft Office PowerPoint</Application>
  <PresentationFormat>Custom</PresentationFormat>
  <Paragraphs>222</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Aileron Bold</vt:lpstr>
      <vt:lpstr>TT Norms Bold</vt:lpstr>
      <vt:lpstr>Montserrat</vt:lpstr>
      <vt:lpstr>Montserrat Bold</vt:lpstr>
      <vt:lpstr>Calibri</vt:lpstr>
      <vt:lpstr>Arial</vt:lpstr>
      <vt:lpstr>TT Fors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Minimalist Digital Marketing Portfolio Presentation</dc:title>
  <cp:lastModifiedBy>Parth Goel</cp:lastModifiedBy>
  <cp:revision>2</cp:revision>
  <dcterms:created xsi:type="dcterms:W3CDTF">2006-08-16T00:00:00Z</dcterms:created>
  <dcterms:modified xsi:type="dcterms:W3CDTF">2026-06-04T11:15:12Z</dcterms:modified>
  <dc:identifier>DAHJQRQoG3Q</dc:identifier>
</cp:coreProperties>
</file>